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18288000" cy="10287000"/>
  <p:embeddedFontLst>
    <p:embeddedFont>
      <p:font typeface="Tahoma"/>
      <p:regular r:id="rId27"/>
      <p:bold r:id="rId28"/>
    </p:embeddedFon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mQBLxnz4LAjg7a4T0IvHCHCCX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1016000" y="569800"/>
            <a:ext cx="11262360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1016000" y="2104435"/>
            <a:ext cx="16256000" cy="662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1016000" y="569800"/>
            <a:ext cx="11262360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6" name="Google Shape;2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94325"/>
            <a:ext cx="5790575" cy="317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0650" y="7309713"/>
            <a:ext cx="5402257" cy="298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42" y="-1142"/>
            <a:ext cx="6558241" cy="339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415" y="490415"/>
            <a:ext cx="1076324" cy="107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9305" y="2871503"/>
            <a:ext cx="6568694" cy="329744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5"/>
          <p:cNvSpPr/>
          <p:nvPr/>
        </p:nvSpPr>
        <p:spPr>
          <a:xfrm>
            <a:off x="6524347" y="5917671"/>
            <a:ext cx="616585" cy="308610"/>
          </a:xfrm>
          <a:custGeom>
            <a:rect b="b" l="l" r="r" t="t"/>
            <a:pathLst>
              <a:path extrusionOk="0" h="308610" w="616584">
                <a:moveTo>
                  <a:pt x="308180" y="308180"/>
                </a:moveTo>
                <a:lnTo>
                  <a:pt x="0" y="154090"/>
                </a:lnTo>
                <a:lnTo>
                  <a:pt x="308180" y="0"/>
                </a:lnTo>
                <a:lnTo>
                  <a:pt x="616361" y="154090"/>
                </a:lnTo>
                <a:lnTo>
                  <a:pt x="308180" y="308180"/>
                </a:ln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" name="Google Shape;32;p25"/>
          <p:cNvSpPr/>
          <p:nvPr/>
        </p:nvSpPr>
        <p:spPr>
          <a:xfrm>
            <a:off x="6832528" y="6071759"/>
            <a:ext cx="308610" cy="539750"/>
          </a:xfrm>
          <a:custGeom>
            <a:rect b="b" l="l" r="r" t="t"/>
            <a:pathLst>
              <a:path extrusionOk="0" h="539750" w="308609">
                <a:moveTo>
                  <a:pt x="0" y="539316"/>
                </a:moveTo>
                <a:lnTo>
                  <a:pt x="0" y="154090"/>
                </a:lnTo>
                <a:lnTo>
                  <a:pt x="308180" y="0"/>
                </a:lnTo>
                <a:lnTo>
                  <a:pt x="308180" y="385225"/>
                </a:lnTo>
                <a:lnTo>
                  <a:pt x="0" y="539316"/>
                </a:lnTo>
                <a:close/>
              </a:path>
            </a:pathLst>
          </a:custGeom>
          <a:solidFill>
            <a:srgbClr val="61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25"/>
          <p:cNvSpPr/>
          <p:nvPr/>
        </p:nvSpPr>
        <p:spPr>
          <a:xfrm>
            <a:off x="6524347" y="6071759"/>
            <a:ext cx="308610" cy="539750"/>
          </a:xfrm>
          <a:custGeom>
            <a:rect b="b" l="l" r="r" t="t"/>
            <a:pathLst>
              <a:path extrusionOk="0" h="539750" w="308609">
                <a:moveTo>
                  <a:pt x="308180" y="539316"/>
                </a:moveTo>
                <a:lnTo>
                  <a:pt x="0" y="385225"/>
                </a:lnTo>
                <a:lnTo>
                  <a:pt x="0" y="0"/>
                </a:lnTo>
                <a:lnTo>
                  <a:pt x="308180" y="154090"/>
                </a:lnTo>
                <a:lnTo>
                  <a:pt x="308180" y="539316"/>
                </a:lnTo>
                <a:close/>
              </a:path>
            </a:pathLst>
          </a:custGeom>
          <a:solidFill>
            <a:srgbClr val="00866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25"/>
          <p:cNvSpPr/>
          <p:nvPr/>
        </p:nvSpPr>
        <p:spPr>
          <a:xfrm>
            <a:off x="6524347" y="5917868"/>
            <a:ext cx="616585" cy="693420"/>
          </a:xfrm>
          <a:custGeom>
            <a:rect b="b" l="l" r="r" t="t"/>
            <a:pathLst>
              <a:path extrusionOk="0" h="693420" w="616584">
                <a:moveTo>
                  <a:pt x="308180" y="0"/>
                </a:moveTo>
                <a:lnTo>
                  <a:pt x="0" y="154090"/>
                </a:lnTo>
                <a:lnTo>
                  <a:pt x="0" y="539316"/>
                </a:lnTo>
                <a:lnTo>
                  <a:pt x="308180" y="693406"/>
                </a:lnTo>
                <a:lnTo>
                  <a:pt x="616361" y="539316"/>
                </a:lnTo>
                <a:lnTo>
                  <a:pt x="616361" y="154090"/>
                </a:lnTo>
                <a:lnTo>
                  <a:pt x="308180" y="0"/>
                </a:lnTo>
                <a:close/>
              </a:path>
            </a:pathLst>
          </a:custGeom>
          <a:noFill/>
          <a:ln cap="flat" cmpd="sng" w="15400">
            <a:solidFill>
              <a:srgbClr val="4D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1016000" y="569800"/>
            <a:ext cx="11262360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" name="Google Shape;7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142" y="-1143"/>
            <a:ext cx="4346062" cy="289187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2"/>
          <p:cNvSpPr txBox="1"/>
          <p:nvPr>
            <p:ph type="title"/>
          </p:nvPr>
        </p:nvSpPr>
        <p:spPr>
          <a:xfrm>
            <a:off x="1016000" y="569800"/>
            <a:ext cx="11262360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rgbClr val="0086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2"/>
          <p:cNvSpPr txBox="1"/>
          <p:nvPr>
            <p:ph idx="1" type="body"/>
          </p:nvPr>
        </p:nvSpPr>
        <p:spPr>
          <a:xfrm>
            <a:off x="1016000" y="2104435"/>
            <a:ext cx="16256000" cy="662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Relationship Id="rId4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94325"/>
            <a:ext cx="5790575" cy="317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0650" y="7309713"/>
            <a:ext cx="5402257" cy="298193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>
            <p:ph type="title"/>
          </p:nvPr>
        </p:nvSpPr>
        <p:spPr>
          <a:xfrm>
            <a:off x="5735935" y="4541869"/>
            <a:ext cx="6816725" cy="11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0">
                <a:latin typeface="Tahoma"/>
                <a:ea typeface="Tahoma"/>
                <a:cs typeface="Tahoma"/>
                <a:sym typeface="Tahoma"/>
              </a:rPr>
              <a:t>Loops in Python</a:t>
            </a:r>
            <a:endParaRPr sz="76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19305" y="2871503"/>
            <a:ext cx="6568694" cy="329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"/>
          <p:cNvGrpSpPr/>
          <p:nvPr/>
        </p:nvGrpSpPr>
        <p:grpSpPr>
          <a:xfrm>
            <a:off x="6524347" y="5917671"/>
            <a:ext cx="616791" cy="693838"/>
            <a:chOff x="6524347" y="5917671"/>
            <a:chExt cx="616791" cy="693838"/>
          </a:xfrm>
        </p:grpSpPr>
        <p:sp>
          <p:nvSpPr>
            <p:cNvPr id="61" name="Google Shape;61;p1"/>
            <p:cNvSpPr/>
            <p:nvPr/>
          </p:nvSpPr>
          <p:spPr>
            <a:xfrm>
              <a:off x="6524347" y="5917671"/>
              <a:ext cx="616585" cy="308610"/>
            </a:xfrm>
            <a:custGeom>
              <a:rect b="b" l="l" r="r" t="t"/>
              <a:pathLst>
                <a:path extrusionOk="0" h="308610" w="616584">
                  <a:moveTo>
                    <a:pt x="308180" y="308180"/>
                  </a:moveTo>
                  <a:lnTo>
                    <a:pt x="0" y="154090"/>
                  </a:lnTo>
                  <a:lnTo>
                    <a:pt x="308180" y="0"/>
                  </a:lnTo>
                  <a:lnTo>
                    <a:pt x="616361" y="154090"/>
                  </a:lnTo>
                  <a:lnTo>
                    <a:pt x="308180" y="30818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6832528" y="6071759"/>
              <a:ext cx="308610" cy="539750"/>
            </a:xfrm>
            <a:custGeom>
              <a:rect b="b" l="l" r="r" t="t"/>
              <a:pathLst>
                <a:path extrusionOk="0" h="539750" w="308609">
                  <a:moveTo>
                    <a:pt x="0" y="539316"/>
                  </a:moveTo>
                  <a:lnTo>
                    <a:pt x="0" y="154090"/>
                  </a:lnTo>
                  <a:lnTo>
                    <a:pt x="308180" y="0"/>
                  </a:lnTo>
                  <a:lnTo>
                    <a:pt x="308180" y="385225"/>
                  </a:lnTo>
                  <a:lnTo>
                    <a:pt x="0" y="539316"/>
                  </a:lnTo>
                  <a:close/>
                </a:path>
              </a:pathLst>
            </a:custGeom>
            <a:solidFill>
              <a:srgbClr val="61C3B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6524347" y="6071759"/>
              <a:ext cx="308610" cy="539750"/>
            </a:xfrm>
            <a:custGeom>
              <a:rect b="b" l="l" r="r" t="t"/>
              <a:pathLst>
                <a:path extrusionOk="0" h="539750" w="308609">
                  <a:moveTo>
                    <a:pt x="308180" y="539316"/>
                  </a:moveTo>
                  <a:lnTo>
                    <a:pt x="0" y="385225"/>
                  </a:lnTo>
                  <a:lnTo>
                    <a:pt x="0" y="0"/>
                  </a:lnTo>
                  <a:lnTo>
                    <a:pt x="308180" y="154090"/>
                  </a:lnTo>
                  <a:lnTo>
                    <a:pt x="308180" y="539316"/>
                  </a:lnTo>
                  <a:close/>
                </a:path>
              </a:pathLst>
            </a:custGeom>
            <a:solidFill>
              <a:srgbClr val="00866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6524347" y="5917868"/>
              <a:ext cx="616585" cy="693420"/>
            </a:xfrm>
            <a:custGeom>
              <a:rect b="b" l="l" r="r" t="t"/>
              <a:pathLst>
                <a:path extrusionOk="0" h="693420" w="616584">
                  <a:moveTo>
                    <a:pt x="308180" y="0"/>
                  </a:moveTo>
                  <a:lnTo>
                    <a:pt x="0" y="154090"/>
                  </a:lnTo>
                  <a:lnTo>
                    <a:pt x="0" y="539316"/>
                  </a:lnTo>
                  <a:lnTo>
                    <a:pt x="308180" y="693406"/>
                  </a:lnTo>
                  <a:lnTo>
                    <a:pt x="616361" y="539316"/>
                  </a:lnTo>
                  <a:lnTo>
                    <a:pt x="616361" y="154090"/>
                  </a:lnTo>
                  <a:lnTo>
                    <a:pt x="308180" y="0"/>
                  </a:lnTo>
                  <a:close/>
                </a:path>
              </a:pathLst>
            </a:custGeom>
            <a:noFill/>
            <a:ln cap="flat" cmpd="sng" w="15400">
              <a:solidFill>
                <a:srgbClr val="4D4D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5" name="Google Shape;65;p1"/>
          <p:cNvSpPr txBox="1"/>
          <p:nvPr/>
        </p:nvSpPr>
        <p:spPr>
          <a:xfrm>
            <a:off x="7512912" y="5977873"/>
            <a:ext cx="572452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Algoritma dan Pemrograman II</a:t>
            </a:r>
            <a:endParaRPr sz="3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6" name="Google Shape;66;p1"/>
          <p:cNvGrpSpPr/>
          <p:nvPr/>
        </p:nvGrpSpPr>
        <p:grpSpPr>
          <a:xfrm>
            <a:off x="272014" y="98696"/>
            <a:ext cx="7121335" cy="2732003"/>
            <a:chOff x="272014" y="98696"/>
            <a:chExt cx="7121335" cy="2732003"/>
          </a:xfrm>
        </p:grpSpPr>
        <p:pic>
          <p:nvPicPr>
            <p:cNvPr id="67" name="Google Shape;67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2014" y="98696"/>
              <a:ext cx="7121335" cy="27320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"/>
            <p:cNvSpPr/>
            <p:nvPr/>
          </p:nvSpPr>
          <p:spPr>
            <a:xfrm>
              <a:off x="3098842" y="2236132"/>
              <a:ext cx="38763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 cap="none">
                  <a:solidFill>
                    <a:srgbClr val="D6E3BC"/>
                  </a:solidFill>
                  <a:latin typeface="Tahoma"/>
                  <a:ea typeface="Tahoma"/>
                  <a:cs typeface="Tahoma"/>
                  <a:sym typeface="Tahoma"/>
                </a:rPr>
                <a:t>Jurusan Informatika</a:t>
              </a:r>
              <a:endParaRPr b="1" sz="2800" cap="none">
                <a:solidFill>
                  <a:srgbClr val="D6E3BC"/>
                </a:solidFill>
              </a:endParaRPr>
            </a:p>
          </p:txBody>
        </p:sp>
      </p:grpSp>
      <p:sp>
        <p:nvSpPr>
          <p:cNvPr id="69" name="Google Shape;69;p1"/>
          <p:cNvSpPr txBox="1"/>
          <p:nvPr/>
        </p:nvSpPr>
        <p:spPr>
          <a:xfrm>
            <a:off x="6290154" y="8420100"/>
            <a:ext cx="5402257" cy="160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Team Teaching: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Lia Farhatuaini, M.Kom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Sokid, M.Kom</a:t>
            </a:r>
            <a:endParaRPr sz="3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2538910"/>
            <a:ext cx="10706098" cy="169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4636129"/>
            <a:ext cx="6210299" cy="303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74" y="8076400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/>
        </p:nvSpPr>
        <p:spPr>
          <a:xfrm>
            <a:off x="1750020" y="7769055"/>
            <a:ext cx="15495269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Sekilas cara penulisan while dengan if mirip. tetapi perbedaanya if dijalankan satu kali ketika kondisinya terpenuhi. namun, while akan dijalankan berulang kali selama kondisinya terpenuhi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2"/>
          <p:cNvSpPr txBox="1"/>
          <p:nvPr>
            <p:ph type="title"/>
          </p:nvPr>
        </p:nvSpPr>
        <p:spPr>
          <a:xfrm>
            <a:off x="1016000" y="569800"/>
            <a:ext cx="16662400" cy="1459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solidFill>
                  <a:srgbClr val="00B050"/>
                </a:solidFill>
              </a:rPr>
              <a:t>PERULANGAN DENGAN WHILE</a:t>
            </a:r>
            <a:endParaRPr sz="9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2062" y="2317061"/>
            <a:ext cx="14220821" cy="753427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>
            <p:ph type="title"/>
          </p:nvPr>
        </p:nvSpPr>
        <p:spPr>
          <a:xfrm>
            <a:off x="1046997" y="569800"/>
            <a:ext cx="171195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solidFill>
                  <a:srgbClr val="00B050"/>
                </a:solidFill>
              </a:rPr>
              <a:t>PERULANGAN DENGAN WHILE</a:t>
            </a:r>
            <a:endParaRPr sz="9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4812081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5412156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6012231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>
            <p:ph idx="1" type="body"/>
          </p:nvPr>
        </p:nvSpPr>
        <p:spPr>
          <a:xfrm>
            <a:off x="1016000" y="2104435"/>
            <a:ext cx="16256000" cy="662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Seorang pesulap memiliki angka rahasia yang disimpan dalam variabel bernama 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secret_number</a:t>
            </a:r>
            <a:r>
              <a:rPr lang="en-US"/>
              <a:t>. Dia ingin semua orang yang menjalankan programnya bermain permainan tebak angka rahasia. pesulap itu meminta anda untuk melengkapi programnya dengan ketentuan:</a:t>
            </a:r>
            <a:endParaRPr/>
          </a:p>
          <a:p>
            <a:pPr indent="0" lvl="0" marL="746125" marR="284226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meminta user untuk memasukkan suatu angka bertipe integer menggunakan perulangan while</a:t>
            </a:r>
            <a:endParaRPr/>
          </a:p>
          <a:p>
            <a:pPr indent="0" lvl="0" marL="746125" marR="17335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mengecek apakah angka yang dimasukkan adalah angka rahasia, jika bukan maka user akan melihat pesan “hahaha ! kamu nyangkut deh di Loop saya”, dan akan meminta user untuk memasukan angkanya lagi. namun jika tebakan benar maka user akan melihat pesan: “Selamat, Muggle! kamu bebas sekarang!” dan selesai.</a:t>
            </a:r>
            <a:endParaRPr/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016000" y="569800"/>
            <a:ext cx="11262360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solidFill>
                  <a:srgbClr val="00B050"/>
                </a:solidFill>
              </a:rPr>
              <a:t>KUIS 15</a:t>
            </a:r>
            <a:endParaRPr sz="9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-2430" r="2430" t="0"/>
          <a:stretch/>
        </p:blipFill>
        <p:spPr>
          <a:xfrm>
            <a:off x="1122674" y="2516640"/>
            <a:ext cx="11048998" cy="686752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>
            <p:ph type="title"/>
          </p:nvPr>
        </p:nvSpPr>
        <p:spPr>
          <a:xfrm>
            <a:off x="1016000" y="569800"/>
            <a:ext cx="11262360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solidFill>
                  <a:srgbClr val="00B050"/>
                </a:solidFill>
              </a:rPr>
              <a:t>KUIS 15</a:t>
            </a:r>
            <a:endParaRPr sz="9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034029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 txBox="1"/>
          <p:nvPr/>
        </p:nvSpPr>
        <p:spPr>
          <a:xfrm>
            <a:off x="1750020" y="2726683"/>
            <a:ext cx="1548955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Jika kita ingin mengeksekusi di dalam perulangan sebanyak tepat 100x, maka jika kita menggunakan while: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6634479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 txBox="1"/>
          <p:nvPr/>
        </p:nvSpPr>
        <p:spPr>
          <a:xfrm>
            <a:off x="1750020" y="6409086"/>
            <a:ext cx="536384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Jika kita menggunakan for: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8" name="Google Shape;1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7723" y="4201887"/>
            <a:ext cx="6419849" cy="188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7723" y="7279431"/>
            <a:ext cx="7572374" cy="16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 txBox="1"/>
          <p:nvPr>
            <p:ph type="title"/>
          </p:nvPr>
        </p:nvSpPr>
        <p:spPr>
          <a:xfrm>
            <a:off x="1015999" y="569800"/>
            <a:ext cx="17653001" cy="1459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solidFill>
                  <a:srgbClr val="00B050"/>
                </a:solidFill>
              </a:rPr>
              <a:t>PERULANGAN DENGAN FOR</a:t>
            </a:r>
            <a:endParaRPr sz="9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2255621"/>
            <a:ext cx="10372724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3726103"/>
            <a:ext cx="10372724" cy="125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4745" y="5295900"/>
            <a:ext cx="10372724" cy="140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646" y="6999081"/>
            <a:ext cx="10286999" cy="129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646" y="8660421"/>
            <a:ext cx="10372724" cy="12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CONTOH 1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11813033" y="2132445"/>
            <a:ext cx="5730300" cy="4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suatu set yang di generate dengan range() akan di urutkan secara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ascending order, </a:t>
            </a: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sehingga argumen kedua di dalam fungsi range harus lebih besar dari argumen pertamanya.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2565362"/>
            <a:ext cx="10725148" cy="2076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CONTOH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24778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847862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6248162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7448312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1016000" y="2104435"/>
            <a:ext cx="16256000" cy="662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8625">
            <a:spAutoFit/>
          </a:bodyPr>
          <a:lstStyle/>
          <a:p>
            <a:pPr indent="-734060" lvl="0" marL="746125" marR="79184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Sebagai seorang developer kalian mungkin akan menghadapi situasi berikut: munculnya kebutuhan untuk menghentikan loop secara keseluruhan; munculnya kebutuhan untuk memulai putaran loop berikutnya tanpa menyelesaikan eksekusi putaran saat ini.</a:t>
            </a:r>
            <a:endParaRPr/>
          </a:p>
          <a:p>
            <a:pPr indent="0" lvl="0" marL="12700" marR="521334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memiliki 2 instruksi untuk mengimplementasi kasus di atas: Break dan Continue</a:t>
            </a:r>
            <a:endParaRPr/>
          </a:p>
          <a:p>
            <a:pPr indent="0" lvl="0" marL="746125" marR="11176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- menghentikan loop secara langsung dan tanpa syarat. program akan menjalankan instruksi terdekat setelah loop</a:t>
            </a:r>
            <a:endParaRPr/>
          </a:p>
          <a:p>
            <a:pPr indent="0" lvl="0" marL="746125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continue - berperilaku seolah-olah program mencapai akhir dari bagian loop. putaran berikutnya dimulai dan ekspresi kondisi segera di uji</a:t>
            </a:r>
            <a:endParaRPr/>
          </a:p>
        </p:txBody>
      </p:sp>
      <p:sp>
        <p:nvSpPr>
          <p:cNvPr id="137" name="Google Shape;137;p9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BREAK DAN CONTINUE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2418" y="2335474"/>
            <a:ext cx="11668124" cy="749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 txBox="1"/>
          <p:nvPr>
            <p:ph type="title"/>
          </p:nvPr>
        </p:nvSpPr>
        <p:spPr>
          <a:xfrm>
            <a:off x="1016000" y="569800"/>
            <a:ext cx="1727200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CONTOH BREAK DAN CONTINUE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KUIS 16</a:t>
            </a:r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882800" y="2392875"/>
            <a:ext cx="161757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Buatlah kuis 15: game tebak angka rahasia pesulap. dengan mengimplementasi perulangan while dan break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KUIS 17</a:t>
            </a:r>
            <a:endParaRPr/>
          </a:p>
        </p:txBody>
      </p:sp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24778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847862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444793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5048012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564808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6248162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7448312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1016000" y="2104435"/>
            <a:ext cx="16256100" cy="6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8625">
            <a:spAutoFit/>
          </a:bodyPr>
          <a:lstStyle/>
          <a:p>
            <a:pPr indent="-734060" lvl="0" marL="746125" marR="394652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buatlah sebuah program dengan ketentuan sebagai berikut: gunakan loop for</a:t>
            </a:r>
            <a:endParaRPr/>
          </a:p>
          <a:p>
            <a:pPr indent="0" lvl="0" marL="746125" marR="69392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gunakan konsep percabangan (if-elif-else) gunakan instruksi continue</a:t>
            </a:r>
            <a:endParaRPr/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/>
              <a:t>meminta user memasukkan suatu kata</a:t>
            </a:r>
            <a:endParaRPr/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/>
              <a:t>gunakan fungsi upper() untuk merubah kata ke huruf kapital</a:t>
            </a:r>
            <a:endParaRPr/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/>
              <a:t>gunakan percabangan dan continue untuk “memakan“ huruf vokal (A, I, U, E,</a:t>
            </a:r>
            <a:endParaRPr/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/>
              <a:t>O) pada kata yang diinputkan tersebut</a:t>
            </a:r>
            <a:endParaRPr/>
          </a:p>
          <a:p>
            <a:pPr indent="0" lvl="0" marL="74612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/>
              <a:t>print huruf konsonan yang tidak termakan, setiap huruf pada satu baris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1016000" y="2340366"/>
            <a:ext cx="5662800" cy="48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contoh input: INFORMATIKA Output yang diharapkan: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25208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N F R M T K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7519433"/>
            <a:ext cx="10639424" cy="2466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KUIS 17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2422620"/>
            <a:ext cx="7410449" cy="361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2467152"/>
            <a:ext cx="7639049" cy="35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 txBox="1"/>
          <p:nvPr>
            <p:ph type="title"/>
          </p:nvPr>
        </p:nvSpPr>
        <p:spPr>
          <a:xfrm>
            <a:off x="1016000" y="569800"/>
            <a:ext cx="18491200" cy="124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B050"/>
                </a:solidFill>
              </a:rPr>
              <a:t>PERULANGAN WHILE DENGAN ELSE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6403" y="2512472"/>
            <a:ext cx="9677398" cy="308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9440" y="6007956"/>
            <a:ext cx="9648824" cy="36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>
            <p:ph type="title"/>
          </p:nvPr>
        </p:nvSpPr>
        <p:spPr>
          <a:xfrm>
            <a:off x="1016000" y="569800"/>
            <a:ext cx="1955800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PERULANGAN FOR DENGAN ELSE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1585753" y="4540358"/>
            <a:ext cx="1444116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0">
                <a:solidFill>
                  <a:srgbClr val="008665"/>
                </a:solidFill>
                <a:latin typeface="Tahoma"/>
                <a:ea typeface="Tahoma"/>
                <a:cs typeface="Tahoma"/>
                <a:sym typeface="Tahoma"/>
              </a:rPr>
              <a:t>Logic ang bit operations in Python</a:t>
            </a:r>
            <a:endParaRPr sz="7600">
              <a:latin typeface="Tahoma"/>
              <a:ea typeface="Tahoma"/>
              <a:cs typeface="Tahoma"/>
              <a:sym typeface="Tahoma"/>
            </a:endParaRPr>
          </a:p>
          <a:p>
            <a:pPr indent="0" lvl="0" marL="593979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Algoritma dan Pemrograman II</a:t>
            </a:r>
            <a:endParaRPr sz="3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9" name="Google Shape;189;p16"/>
          <p:cNvGrpSpPr/>
          <p:nvPr/>
        </p:nvGrpSpPr>
        <p:grpSpPr>
          <a:xfrm>
            <a:off x="272014" y="98696"/>
            <a:ext cx="7121335" cy="2732003"/>
            <a:chOff x="272014" y="98696"/>
            <a:chExt cx="7121335" cy="2732003"/>
          </a:xfrm>
        </p:grpSpPr>
        <p:pic>
          <p:nvPicPr>
            <p:cNvPr id="190" name="Google Shape;19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2014" y="98696"/>
              <a:ext cx="7121335" cy="27320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6"/>
            <p:cNvSpPr/>
            <p:nvPr/>
          </p:nvSpPr>
          <p:spPr>
            <a:xfrm>
              <a:off x="3098842" y="2236132"/>
              <a:ext cx="38763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 cap="none">
                  <a:solidFill>
                    <a:srgbClr val="D6E3BC"/>
                  </a:solidFill>
                  <a:latin typeface="Tahoma"/>
                  <a:ea typeface="Tahoma"/>
                  <a:cs typeface="Tahoma"/>
                  <a:sym typeface="Tahoma"/>
                </a:rPr>
                <a:t>Jurusan Informatika</a:t>
              </a:r>
              <a:endParaRPr b="1" sz="2800" cap="none">
                <a:solidFill>
                  <a:srgbClr val="D6E3BC"/>
                </a:solidFill>
              </a:endParaRPr>
            </a:p>
          </p:txBody>
        </p:sp>
      </p:grpSp>
      <p:sp>
        <p:nvSpPr>
          <p:cNvPr id="192" name="Google Shape;192;p16"/>
          <p:cNvSpPr txBox="1"/>
          <p:nvPr/>
        </p:nvSpPr>
        <p:spPr>
          <a:xfrm>
            <a:off x="6290154" y="8420100"/>
            <a:ext cx="5402257" cy="160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Team Teaching: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Lia Farhatuaini, M.Kom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5B6D"/>
                </a:solidFill>
                <a:latin typeface="Tahoma"/>
                <a:ea typeface="Tahoma"/>
                <a:cs typeface="Tahoma"/>
                <a:sym typeface="Tahoma"/>
              </a:rPr>
              <a:t>Sokid, M.Kom</a:t>
            </a:r>
            <a:endParaRPr sz="3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264771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209" y="5119133"/>
            <a:ext cx="8782049" cy="132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247787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1750020" y="2340366"/>
            <a:ext cx="12461240" cy="2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54621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Logical Opertaor: and, or, not Hukum De Morgan: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35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negasi dari suatu conjungsi adalah disjungsi dari suatu negasi negasi dari suau disjungsi adalah konjungsi dari suatu negasi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1" name="Google Shape;2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4209" y="7106542"/>
            <a:ext cx="6172199" cy="2514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EKSPRESI LOGIKA</a:t>
            </a:r>
            <a:endParaRPr/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0153" y="7520027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8979999" y="7212681"/>
            <a:ext cx="8547735" cy="2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operator logika akan melihat jika nilainya nol (ketika semua bit direset) berarti False, dan jika setidaknya satu bit diatur berarti True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264771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7612" y="3918983"/>
            <a:ext cx="8343900" cy="276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1750020" y="2340366"/>
            <a:ext cx="1475295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ada 4 operator yang memungkinkan untuk memanipulasi bit tunggal dari data, disebut operator bitwise.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" name="Google Shape;212;p18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OPERATOR BITWISE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2100765"/>
            <a:ext cx="3876674" cy="61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6333" y="2509167"/>
            <a:ext cx="11706224" cy="268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6092" y="6139605"/>
            <a:ext cx="11563349" cy="2066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>
            <p:ph type="title"/>
          </p:nvPr>
        </p:nvSpPr>
        <p:spPr>
          <a:xfrm>
            <a:off x="1016000" y="569800"/>
            <a:ext cx="1681480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OPERASI LOGICAL VS. BIT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264771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324778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444793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5648088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754" y="6566933"/>
            <a:ext cx="8077199" cy="226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BINARY SHIFTING</a:t>
            </a:r>
            <a:endParaRPr/>
          </a:p>
        </p:txBody>
      </p:sp>
      <p:pic>
        <p:nvPicPr>
          <p:cNvPr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7576" y="676187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7576" y="8562102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1689000" y="2340366"/>
            <a:ext cx="15899765" cy="713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0960" lvl="0" marL="12700" marR="216344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Operasi Shifting hanya bisa dilakukan oleh nilai dengan tipe </a:t>
            </a:r>
            <a:r>
              <a:rPr lang="en-US" sz="3400">
                <a:latin typeface="Arial Black"/>
                <a:ea typeface="Arial Black"/>
                <a:cs typeface="Arial Black"/>
                <a:sym typeface="Arial Black"/>
              </a:rPr>
              <a:t>Integer </a:t>
            </a: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Jika kita ingin melakukan perkalian 10 dengan bilangan apapun: 1234 x 10 = 12340 (menggeser digit ke kanan)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60960" lvl="0" marL="12700" marR="275971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Jika kita ingin melakukan pembagian 10 dengan bilangan apapun 12340 / 10 = 1234 (menggeser digit ke kiri)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7366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Shift operators: &lt;&lt; (Binary Left Shift) dan &gt;&gt; (Binary Right Shift)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500745" marR="101473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menggeser 1 bit ke kanan sama dengan melakukan pembagian integer dengan 2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500745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menggeser 2 bit ke kiri sama dengan mengalikan dengan 4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4" y="264771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81" y="3976929"/>
            <a:ext cx="5981699" cy="530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1750020" y="2422319"/>
            <a:ext cx="11258550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rebuchet MS"/>
                <a:ea typeface="Trebuchet MS"/>
                <a:cs typeface="Trebuchet MS"/>
                <a:sym typeface="Trebuchet MS"/>
              </a:rPr>
              <a:t>Jalankan dan jelaskan maksud kode python di bawah ini</a:t>
            </a:r>
            <a:endParaRPr sz="3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21"/>
          <p:cNvSpPr txBox="1"/>
          <p:nvPr>
            <p:ph type="title"/>
          </p:nvPr>
        </p:nvSpPr>
        <p:spPr>
          <a:xfrm>
            <a:off x="1016000" y="569800"/>
            <a:ext cx="11262360" cy="135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KUIS 18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2026-02-03T06:00:04Z</dcterms:created>
  <dc:creator>Lia Farhatuaini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2024-03-27T00:00:00Z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