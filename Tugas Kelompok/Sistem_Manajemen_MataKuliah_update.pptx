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1371600"/>
            <a:ext cx="5486400" cy="5486400"/>
          </a:xfrm>
          <a:prstGeom prst="ellipse">
            <a:avLst/>
          </a:prstGeom>
          <a:solidFill>
            <a:srgbClr val="1A56A4">
              <a:alpha val="22000"/>
            </a:srgbClr>
          </a:solidFill>
          <a:ln w="12700">
            <a:solidFill>
              <a:srgbClr val="1A56A4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743200"/>
            <a:ext cx="3200400" cy="3200400"/>
          </a:xfrm>
          <a:prstGeom prst="ellipse">
            <a:avLst/>
          </a:prstGeom>
          <a:solidFill>
            <a:srgbClr val="0EA5A0">
              <a:alpha val="18000"/>
            </a:srgbClr>
          </a:solidFill>
          <a:ln w="12700">
            <a:solidFill>
              <a:srgbClr val="0EA5A0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14400"/>
            <a:ext cx="2560320" cy="320040"/>
          </a:xfrm>
          <a:prstGeom prst="roundRect">
            <a:avLst>
              <a:gd name="adj" fmla="val 11429"/>
            </a:avLst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LAPORAN PROGRAM PYTHON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Manajemen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02920" y="212140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02920" y="2971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manajemen jadwal kuliah berbasis Python dengan antarmuka terminal.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782312"/>
            <a:ext cx="9144000" cy="361188"/>
          </a:xfrm>
          <a:prstGeom prst="rect">
            <a:avLst/>
          </a:prstGeom>
          <a:solidFill>
            <a:srgbClr val="071028"/>
          </a:solidFill>
          <a:ln w="12700">
            <a:solidFill>
              <a:srgbClr val="0710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782312"/>
            <a:ext cx="91440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Python  |  List of Dictionary  |  Validasi Input  |  Sorting  |  Menu Interaktif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64592"/>
            <a:ext cx="2377440" cy="292608"/>
          </a:xfrm>
          <a:prstGeom prst="roundRect">
            <a:avLst>
              <a:gd name="adj" fmla="val 12500"/>
            </a:avLst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LATAR BELAKANG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8138160" cy="3657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25880"/>
            <a:ext cx="54864" cy="100584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2588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Pengelolaan Jadwal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636776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 membutuhkan cara yang mudah untuk memantau jadwal kuliah, mulai dari nama mata kuliah, hari, jam, ruang, hingga jumlah SKS dalam satu tempat yang terorganisir.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532888"/>
            <a:ext cx="54864" cy="100584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3288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 Berbasis Python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843784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ini dibuat sebagai solusi ringan berbasis CLI menggunakan Python tanpa instalasi library tambahan, sehingga bisa langsung dijalankan di semua sistem operasi.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39896"/>
            <a:ext cx="54864" cy="100584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73989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Konsep Pemrograman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4050792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ini menerapkan konsep List of Dictionary, fungsi modular, validasi input, dan sorting agar kode bersih, terstruktur, dan mudah dikembangkan lebih lanjut.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64592"/>
            <a:ext cx="2377440" cy="292608"/>
          </a:xfrm>
          <a:prstGeom prst="roundRect">
            <a:avLst>
              <a:gd name="adj" fmla="val 12500"/>
            </a:avLst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TUJUAN &amp; MANFAAT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dan Manfaat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8138160" cy="3657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25880"/>
            <a:ext cx="3931920" cy="329184"/>
          </a:xfrm>
          <a:prstGeom prst="rect">
            <a:avLst/>
          </a:prstGeom>
          <a:solidFill>
            <a:srgbClr val="1A56A4"/>
          </a:solidFill>
          <a:ln w="12700">
            <a:solidFill>
              <a:srgbClr val="1A56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258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TUJUAN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737360"/>
            <a:ext cx="45720" cy="914400"/>
          </a:xfrm>
          <a:prstGeom prst="rect">
            <a:avLst/>
          </a:prstGeom>
          <a:solidFill>
            <a:srgbClr val="1A56A4"/>
          </a:solidFill>
          <a:ln w="12700">
            <a:solidFill>
              <a:srgbClr val="1A56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37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Sistem Jadwal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0116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program yang mampu menyimpan dan mengelola data jadwal kuliah secara terstruktur dalam satu variabel list.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788920"/>
            <a:ext cx="45720" cy="914400"/>
          </a:xfrm>
          <a:prstGeom prst="rect">
            <a:avLst/>
          </a:prstGeom>
          <a:solidFill>
            <a:srgbClr val="1A56A4"/>
          </a:solidFill>
          <a:ln w="12700">
            <a:solidFill>
              <a:srgbClr val="1A56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7889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Struktur Data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063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Mengimplementasikan List of Dictionary sebagai wadah data utama dengan lima atribut tiap mata kuliah.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840480"/>
            <a:ext cx="45720" cy="914400"/>
          </a:xfrm>
          <a:prstGeom prst="rect">
            <a:avLst/>
          </a:prstGeom>
          <a:solidFill>
            <a:srgbClr val="1A56A4"/>
          </a:solidFill>
          <a:ln w="12700">
            <a:solidFill>
              <a:srgbClr val="1A56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840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Melatih Validasi Input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41148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Membiasakan praktik validasi input yang ketat agar data yang masuk ke sistem selalu bersih dan konsisten.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1325880"/>
            <a:ext cx="3931920" cy="329184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3258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MANFAAT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1737360"/>
            <a:ext cx="45720" cy="91440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737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 Mahasiswa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56048" y="20116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Memudahkan pemantauan jadwal kuliah harian tanpa perlu membuka banyak dokumen atau aplikasi terpisah.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788920"/>
            <a:ext cx="45720" cy="91440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27889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 Pengembang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56048" y="3063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Melatih kemampuan menulis kode Python yang modular, reusable, dan mudah dipelihara ke depannya.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3840480"/>
            <a:ext cx="45720" cy="91440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840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Efisiensi Waktu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56048" y="41148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pencarian dan sorting mempercepat akses informasi jadwal dibanding mencari secara manual.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64592"/>
            <a:ext cx="2377440" cy="292608"/>
          </a:xfrm>
          <a:prstGeom prst="roundRect">
            <a:avLst>
              <a:gd name="adj" fmla="val 12500"/>
            </a:avLst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STRUKTUR DATA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Data yang Digunakan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8138160" cy="3657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ini menggunakan satu variabel utama bernama jadwal_kuliah yang bertipe List of Dictionary. Setiap elemen di dalam list merepresentasikan satu mata kuliah dengan lima key: mata_kuliah, hari, jam, ruang, dan sks.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2029968"/>
            <a:ext cx="1572768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2029968"/>
            <a:ext cx="1572768" cy="64008"/>
          </a:xfrm>
          <a:prstGeom prst="rect">
            <a:avLst/>
          </a:prstGeom>
          <a:solidFill>
            <a:srgbClr val="1A56A4"/>
          </a:solidFill>
          <a:ln w="12700">
            <a:solidFill>
              <a:srgbClr val="1A56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12140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"mata_kuliah"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46888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str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" y="2788920"/>
            <a:ext cx="138988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852928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Contoh: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" y="3054096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"Basis Data"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340156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mata kuliah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75688" y="2029968"/>
            <a:ext cx="1572768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75688" y="2029968"/>
            <a:ext cx="1572768" cy="64008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67128" y="212140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"hari"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67128" y="246888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str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67128" y="2788920"/>
            <a:ext cx="138988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67128" y="2852928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Contoh: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67128" y="3054096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"Senin"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67128" y="340156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pelaksanaan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767328" y="2029968"/>
            <a:ext cx="1572768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67328" y="2029968"/>
            <a:ext cx="157276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212140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"jam"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58768" y="246888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str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58768" y="2788920"/>
            <a:ext cx="138988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58768" y="2852928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Contoh: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858768" y="3054096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"12:00"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58768" y="340156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 mulai kuliah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58968" y="2029968"/>
            <a:ext cx="1572768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58968" y="2029968"/>
            <a:ext cx="1572768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50408" y="212140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"ruang"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50408" y="246888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str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50408" y="2788920"/>
            <a:ext cx="138988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50408" y="2852928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Contoh: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50408" y="3054096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"Lab 2"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50408" y="340156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Ruang / lokasi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150608" y="2029968"/>
            <a:ext cx="1572768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50608" y="2029968"/>
            <a:ext cx="1572768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42048" y="212140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"sks"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242048" y="246888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int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242048" y="2788920"/>
            <a:ext cx="138988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42048" y="2852928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Contoh: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242048" y="3054096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242048" y="340156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SKS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2920" y="475488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awal terdiri dari 6 mata kuliah yang langsung tersimpan saat program pertama kali dijalankan, mencakup hari Senin hingga Jumat dengan total 20 SKS.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64592"/>
            <a:ext cx="2377440" cy="292608"/>
          </a:xfrm>
          <a:prstGeom prst="roundRect">
            <a:avLst>
              <a:gd name="adj" fmla="val 12500"/>
            </a:avLst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FUNGSI PROGRAM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Pemrograman yang Digunakan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8138160" cy="3657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00" name="Card_bg_100"/>
          <p:cNvSpPr/>
          <p:nvPr/>
        </p:nvSpPr>
        <p:spPr>
          <a:xfrm>
            <a:off x="472000" y="1300000"/>
            <a:ext cx="4090000" cy="1800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9050">
            <a:solidFill>
              <a:srgbClr val="0EA5A0"/>
            </a:solidFill>
          </a:ln>
        </p:spPr>
      </p:sp>
      <p:sp>
        <p:nvSpPr>
          <p:cNvPr id="101" name="Card_bar_100"/>
          <p:cNvSpPr/>
          <p:nvPr/>
        </p:nvSpPr>
        <p:spPr>
          <a:xfrm>
            <a:off x="472000" y="1300000"/>
            <a:ext cx="4090000" cy="80000"/>
          </a:xfrm>
          <a:prstGeom prst="roundRect">
            <a:avLst>
              <a:gd name="adj" fmla="val 5000"/>
            </a:avLst>
          </a:prstGeom>
          <a:solidFill>
            <a:srgbClr val="0EA5A0"/>
          </a:solidFill>
          <a:ln w="0">
            <a:noFill/>
          </a:ln>
        </p:spPr>
      </p:sp>
      <p:sp>
        <p:nvSpPr>
          <p:cNvPr id="102" name="Card_lbl_100"/>
          <p:cNvSpPr/>
          <p:nvPr/>
        </p:nvSpPr>
        <p:spPr>
          <a:xfrm>
            <a:off x="552000" y="1300000"/>
            <a:ext cx="3930000" cy="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id-ID" sz="1100" b="1" dirty="0">
                <a:solidFill>
                  <a:srgbClr val="FFFFFF"/>
                </a:solidFill>
                <a:latin typeface="Calibri"/>
              </a:rPr>
              <a:t>🔁  PERULANGAN</a:t>
            </a:r>
          </a:p>
        </p:txBody>
      </p:sp>
      <p:sp>
        <p:nvSpPr>
          <p:cNvPr id="103" name="Card_txt_100"/>
          <p:cNvSpPr/>
          <p:nvPr/>
        </p:nvSpPr>
        <p:spPr>
          <a:xfrm>
            <a:off x="552000" y="1420000"/>
            <a:ext cx="3930000" cy="16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114300" marL="114300">
              <a:buChar char="•"/>
            </a:pPr>
            <a:r>
              <a:rPr lang="id-ID" sz="900" b="1" dirty="0">
                <a:solidFill>
                  <a:srgbClr val="0D1B3E"/>
                </a:solidFill>
                <a:latin typeface="Consolas"/>
              </a:rPr>
              <a:t>for mk in jadwal_kuliah:</a:t>
            </a:r>
            <a:r>
              <a:rPr lang="id-ID" sz="900" dirty="0">
                <a:solidFill>
                  <a:srgbClr val="475569"/>
                </a:solidFill>
                <a:latin typeface="Calibri"/>
              </a:rPr>
              <a:t xml:space="preserve"> akumulasi total SKS (Fitur 1) dan kumpulkan hari unik (Fitur 2)</a:t>
            </a:r>
          </a:p>
          <a:p>
            <a:pPr indent="114300" marL="114300">
              <a:buChar char="•"/>
            </a:pPr>
            <a:r>
              <a:rPr lang="id-ID" sz="900" b="1" dirty="0">
                <a:solidFill>
                  <a:srgbClr val="0D1B3E"/>
                </a:solidFill>
                <a:latin typeface="Consolas"/>
              </a:rPr>
              <a:t>for i, mk in enumerate(daftar):</a:t>
            </a:r>
            <a:r>
              <a:rPr lang="id-ID" sz="900" dirty="0">
                <a:solidFill>
                  <a:srgbClr val="475569"/>
                </a:solidFill>
                <a:latin typeface="Calibri"/>
              </a:rPr>
              <a:t xml:space="preserve"> cetak tabel dengan nomor urut otomatis di cetak_matkul()</a:t>
            </a:r>
          </a:p>
          <a:p>
            <a:pPr indent="114300" marL="114300">
              <a:buChar char="•"/>
            </a:pPr>
            <a:r>
              <a:rPr lang="id-ID" sz="900" b="1" dirty="0">
                <a:solidFill>
                  <a:srgbClr val="0D1B3E"/>
                </a:solidFill>
                <a:latin typeface="Consolas"/>
              </a:rPr>
              <a:t>while True:</a:t>
            </a:r>
            <a:r>
              <a:rPr lang="id-ID" sz="900" dirty="0">
                <a:solidFill>
                  <a:srgbClr val="475569"/>
                </a:solidFill>
                <a:latin typeface="Calibri"/>
              </a:rPr>
              <a:t xml:space="preserve"> loop validasi input hari — terus minta ulang jika input tidak valid (Fitur 2)</a:t>
            </a:r>
          </a:p>
          <a:p>
            <a:pPr indent="114300" marL="114300">
              <a:buChar char="•"/>
            </a:pPr>
            <a:r>
              <a:rPr lang="id-ID" sz="900" b="1" dirty="0">
                <a:solidFill>
                  <a:srgbClr val="0D1B3E"/>
                </a:solidFill>
                <a:latin typeface="Consolas"/>
              </a:rPr>
              <a:t>while True:</a:t>
            </a:r>
            <a:r>
              <a:rPr lang="id-ID" sz="900" dirty="0">
                <a:solidFill>
                  <a:srgbClr val="475569"/>
                </a:solidFill>
                <a:latin typeface="Calibri"/>
              </a:rPr>
              <a:t xml:space="preserve"> loop validasi jam HH:MM dan SKS 1-6 saat tambah data (Fitur 3)</a:t>
            </a:r>
          </a:p>
          <a:p>
            <a:pPr indent="114300" marL="114300">
              <a:buChar char="•"/>
            </a:pPr>
            <a:r>
              <a:rPr lang="id-ID" sz="900" b="1" dirty="0">
                <a:solidFill>
                  <a:srgbClr val="0D1B3E"/>
                </a:solidFill>
                <a:latin typeface="Consolas"/>
              </a:rPr>
              <a:t>while True:</a:t>
            </a:r>
            <a:r>
              <a:rPr lang="id-ID" sz="900" dirty="0">
                <a:solidFill>
                  <a:srgbClr val="475569"/>
                </a:solidFill>
                <a:latin typeface="Calibri"/>
              </a:rPr>
              <a:t xml:space="preserve"> loop menu utama — program terus berjalan sampai user pilih 0</a:t>
            </a:r>
          </a:p>
        </p:txBody>
      </p:sp>
      <p:sp>
        <p:nvSpPr>
          <p:cNvPr id="120" name="Card_bg_120"/>
          <p:cNvSpPr/>
          <p:nvPr/>
        </p:nvSpPr>
        <p:spPr>
          <a:xfrm>
            <a:off x="4582000" y="1300000"/>
            <a:ext cx="4090000" cy="1800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9050">
            <a:solidFill>
              <a:srgbClr val="1D4ED8"/>
            </a:solidFill>
          </a:ln>
        </p:spPr>
      </p:sp>
      <p:sp>
        <p:nvSpPr>
          <p:cNvPr id="121" name="Card_bar_120"/>
          <p:cNvSpPr/>
          <p:nvPr/>
        </p:nvSpPr>
        <p:spPr>
          <a:xfrm>
            <a:off x="4582000" y="1300000"/>
            <a:ext cx="4090000" cy="80000"/>
          </a:xfrm>
          <a:prstGeom prst="roundRect">
            <a:avLst>
              <a:gd name="adj" fmla="val 5000"/>
            </a:avLst>
          </a:prstGeom>
          <a:solidFill>
            <a:srgbClr val="1D4ED8"/>
          </a:solidFill>
          <a:ln w="0">
            <a:noFill/>
          </a:ln>
        </p:spPr>
      </p:sp>
      <p:sp>
        <p:nvSpPr>
          <p:cNvPr id="122" name="Card_lbl_120"/>
          <p:cNvSpPr/>
          <p:nvPr/>
        </p:nvSpPr>
        <p:spPr>
          <a:xfrm>
            <a:off x="4662000" y="1300000"/>
            <a:ext cx="3930000" cy="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id-ID" sz="1100" b="1" dirty="0">
                <a:solidFill>
                  <a:srgbClr val="FFFFFF"/>
                </a:solidFill>
                <a:latin typeface="Calibri"/>
              </a:rPr>
              <a:t>🔀  PERCABANGAN</a:t>
            </a:r>
          </a:p>
        </p:txBody>
      </p:sp>
      <p:sp>
        <p:nvSpPr>
          <p:cNvPr id="123" name="Card_txt_120"/>
          <p:cNvSpPr/>
          <p:nvPr/>
        </p:nvSpPr>
        <p:spPr>
          <a:xfrm>
            <a:off x="4662000" y="1420000"/>
            <a:ext cx="3930000" cy="16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114300" marL="114300">
              <a:buChar char="•"/>
            </a:pPr>
            <a:r>
              <a:rPr lang="id-ID" sz="900" b="1" dirty="0">
                <a:solidFill>
                  <a:srgbClr val="0D1B3E"/>
                </a:solidFill>
                <a:latin typeface="Consolas"/>
              </a:rPr>
              <a:t>if/elif/else</a:t>
            </a:r>
            <a:r>
              <a:rPr lang="id-ID" sz="900" dirty="0">
                <a:solidFill>
                  <a:srgbClr val="475569"/>
                </a:solidFill>
                <a:latin typeface="Calibri"/>
              </a:rPr>
              <a:t xml:space="preserve"> memilih fungsi yang dipanggil berdasarkan pilihan menu (0-4) di menu_utama()</a:t>
            </a:r>
          </a:p>
          <a:p>
            <a:pPr indent="114300" marL="114300">
              <a:buChar char="•"/>
            </a:pPr>
            <a:r>
              <a:rPr lang="id-ID" sz="900" b="1" dirty="0">
                <a:solidFill>
                  <a:srgbClr val="0D1B3E"/>
                </a:solidFill>
                <a:latin typeface="Consolas"/>
              </a:rPr>
              <a:t>if hari_input.isdigit():</a:t>
            </a:r>
            <a:r>
              <a:rPr lang="id-ID" sz="900" dirty="0">
                <a:solidFill>
                  <a:srgbClr val="475569"/>
                </a:solidFill>
                <a:latin typeface="Calibri"/>
              </a:rPr>
              <a:t xml:space="preserve"> menolak input angka murni saat user memasukkan nama hari</a:t>
            </a:r>
          </a:p>
          <a:p>
            <a:pPr indent="114300" marL="114300">
              <a:buChar char="•"/>
            </a:pPr>
            <a:r>
              <a:rPr lang="id-ID" sz="900" b="1" dirty="0">
                <a:solidFill>
                  <a:srgbClr val="0D1B3E"/>
                </a:solidFill>
                <a:latin typeface="Consolas"/>
              </a:rPr>
              <a:t>elif not hari_input.isalpha():</a:t>
            </a:r>
            <a:r>
              <a:rPr lang="id-ID" sz="900" dirty="0">
                <a:solidFill>
                  <a:srgbClr val="475569"/>
                </a:solidFill>
                <a:latin typeface="Calibri"/>
              </a:rPr>
              <a:t xml:space="preserve"> menolak input yang mengandung karakter selain huruf</a:t>
            </a:r>
          </a:p>
          <a:p>
            <a:pPr indent="114300" marL="114300">
              <a:buChar char="•"/>
            </a:pPr>
            <a:r>
              <a:rPr lang="id-ID" sz="900" b="1" dirty="0">
                <a:solidFill>
                  <a:srgbClr val="0D1B3E"/>
                </a:solidFill>
                <a:latin typeface="Consolas"/>
              </a:rPr>
              <a:t>if duplikat:</a:t>
            </a:r>
            <a:r>
              <a:rPr lang="id-ID" sz="900" dirty="0">
                <a:solidFill>
                  <a:srgbClr val="475569"/>
                </a:solidFill>
                <a:latin typeface="Calibri"/>
              </a:rPr>
              <a:t xml:space="preserve"> mencegah penambahan mata kuliah dengan nama yang sudah ada</a:t>
            </a:r>
          </a:p>
          <a:p>
            <a:pPr indent="114300" marL="114300">
              <a:buChar char="•"/>
            </a:pPr>
            <a:r>
              <a:rPr lang="id-ID" sz="900" b="1" dirty="0">
                <a:solidFill>
                  <a:srgbClr val="0D1B3E"/>
                </a:solidFill>
                <a:latin typeface="Consolas"/>
              </a:rPr>
              <a:t>if len(hasil) == 0:</a:t>
            </a:r>
            <a:r>
              <a:rPr lang="id-ID" sz="900" dirty="0">
                <a:solidFill>
                  <a:srgbClr val="475569"/>
                </a:solidFill>
                <a:latin typeface="Calibri"/>
              </a:rPr>
              <a:t xml:space="preserve"> menentukan apakah ditampilkan tabel hasil atau pesan tidak ditemukan</a:t>
            </a:r>
          </a:p>
        </p:txBody>
      </p:sp>
      <p:sp>
        <p:nvSpPr>
          <p:cNvPr id="140" name="Card_bg_140"/>
          <p:cNvSpPr/>
          <p:nvPr/>
        </p:nvSpPr>
        <p:spPr>
          <a:xfrm>
            <a:off x="472000" y="3220000"/>
            <a:ext cx="4090000" cy="1830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9050">
            <a:solidFill>
              <a:srgbClr val="EA580C"/>
            </a:solidFill>
          </a:ln>
        </p:spPr>
      </p:sp>
      <p:sp>
        <p:nvSpPr>
          <p:cNvPr id="141" name="Card_bar_140"/>
          <p:cNvSpPr/>
          <p:nvPr/>
        </p:nvSpPr>
        <p:spPr>
          <a:xfrm>
            <a:off x="472000" y="3220000"/>
            <a:ext cx="4090000" cy="80000"/>
          </a:xfrm>
          <a:prstGeom prst="roundRect">
            <a:avLst>
              <a:gd name="adj" fmla="val 5000"/>
            </a:avLst>
          </a:prstGeom>
          <a:solidFill>
            <a:srgbClr val="EA580C"/>
          </a:solidFill>
          <a:ln w="0">
            <a:noFill/>
          </a:ln>
        </p:spPr>
      </p:sp>
      <p:sp>
        <p:nvSpPr>
          <p:cNvPr id="142" name="Card_lbl_140"/>
          <p:cNvSpPr/>
          <p:nvPr/>
        </p:nvSpPr>
        <p:spPr>
          <a:xfrm>
            <a:off x="552000" y="3220000"/>
            <a:ext cx="3930000" cy="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id-ID" sz="1100" b="1" dirty="0">
                <a:solidFill>
                  <a:srgbClr val="FFFFFF"/>
                </a:solidFill>
                <a:latin typeface="Calibri"/>
              </a:rPr>
              <a:t>✅  VALIDASI INPUT</a:t>
            </a:r>
          </a:p>
        </p:txBody>
      </p:sp>
      <p:sp>
        <p:nvSpPr>
          <p:cNvPr id="143" name="Card_txt_140"/>
          <p:cNvSpPr/>
          <p:nvPr/>
        </p:nvSpPr>
        <p:spPr>
          <a:xfrm>
            <a:off x="552000" y="3340000"/>
            <a:ext cx="3930000" cy="16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114300" marL="114300">
              <a:buChar char="•"/>
            </a:pPr>
            <a:r>
              <a:rPr lang="id-ID" sz="900" b="1" dirty="0">
                <a:solidFill>
                  <a:srgbClr val="0D1B3E"/>
                </a:solidFill>
                <a:latin typeface="Consolas"/>
              </a:rPr>
              <a:t>.isdigit()</a:t>
            </a:r>
            <a:r>
              <a:rPr lang="id-ID" sz="900" dirty="0">
                <a:solidFill>
                  <a:srgbClr val="475569"/>
                </a:solidFill>
                <a:latin typeface="Calibri"/>
              </a:rPr>
              <a:t xml:space="preserve"> cek apakah input adalah angka murni (misal "123") — ditolak sebagai nama hari</a:t>
            </a:r>
          </a:p>
          <a:p>
            <a:pPr indent="114300" marL="114300">
              <a:buChar char="•"/>
            </a:pPr>
            <a:r>
              <a:rPr lang="id-ID" sz="900" b="1" dirty="0">
                <a:solidFill>
                  <a:srgbClr val="0D1B3E"/>
                </a:solidFill>
                <a:latin typeface="Consolas"/>
              </a:rPr>
              <a:t>.isalpha()</a:t>
            </a:r>
            <a:r>
              <a:rPr lang="id-ID" sz="900" dirty="0">
                <a:solidFill>
                  <a:srgbClr val="475569"/>
                </a:solidFill>
                <a:latin typeface="Calibri"/>
              </a:rPr>
              <a:t xml:space="preserve"> cek apakah input hanya huruf — input seperti "Sen1n" atau "R@bu" ditolak</a:t>
            </a:r>
          </a:p>
          <a:p>
            <a:pPr indent="114300" marL="114300">
              <a:buChar char="•"/>
            </a:pPr>
            <a:r>
              <a:rPr lang="id-ID" sz="900" b="1" dirty="0">
                <a:solidFill>
                  <a:srgbClr val="0D1B3E"/>
                </a:solidFill>
                <a:latin typeface="Consolas"/>
              </a:rPr>
              <a:t>jam.split(":")</a:t>
            </a:r>
            <a:r>
              <a:rPr lang="id-ID" sz="900" dirty="0">
                <a:solidFill>
                  <a:srgbClr val="475569"/>
                </a:solidFill>
                <a:latin typeface="Calibri"/>
              </a:rPr>
              <a:t xml:space="preserve"> memisahkan HH dan MM, lalu cek: keduanya angka, jam 0-23, menit 0-59</a:t>
            </a:r>
          </a:p>
          <a:p>
            <a:pPr indent="114300" marL="114300">
              <a:buChar char="•"/>
            </a:pPr>
            <a:r>
              <a:rPr lang="id-ID" sz="900" b="1" dirty="0">
                <a:solidFill>
                  <a:srgbClr val="0D1B3E"/>
                </a:solidFill>
                <a:latin typeface="Consolas"/>
              </a:rPr>
              <a:t>try / except ValueError</a:t>
            </a:r>
            <a:r>
              <a:rPr lang="id-ID" sz="900" dirty="0">
                <a:solidFill>
                  <a:srgbClr val="475569"/>
                </a:solidFill>
                <a:latin typeface="Calibri"/>
              </a:rPr>
              <a:t xml:space="preserve"> menangkap error saat int() gagal konversi input SKS yang bukan angka</a:t>
            </a:r>
          </a:p>
          <a:p>
            <a:pPr indent="114300" marL="114300">
              <a:buChar char="•"/>
            </a:pPr>
            <a:r>
              <a:rPr lang="id-ID" sz="900" b="1" dirty="0">
                <a:solidFill>
                  <a:srgbClr val="0D1B3E"/>
                </a:solidFill>
                <a:latin typeface="Consolas"/>
              </a:rPr>
              <a:t>sks &lt; 1 or sks &gt; 6</a:t>
            </a:r>
            <a:r>
              <a:rPr lang="id-ID" sz="900" dirty="0">
                <a:solidFill>
                  <a:srgbClr val="475569"/>
                </a:solidFill>
                <a:latin typeface="Calibri"/>
              </a:rPr>
              <a:t xml:space="preserve"> memastikan nilai SKS dalam rentang yang valid (1 sampai 6)</a:t>
            </a:r>
          </a:p>
          <a:p>
            <a:pPr indent="114300" marL="114300">
              <a:buChar char="•"/>
            </a:pPr>
            <a:r>
              <a:rPr lang="id-ID" sz="900" b="1" dirty="0">
                <a:solidFill>
                  <a:srgbClr val="0D1B3E"/>
                </a:solidFill>
                <a:latin typeface="Consolas"/>
              </a:rPr>
              <a:t>.lower()</a:t>
            </a:r>
            <a:r>
              <a:rPr lang="id-ID" sz="900" dirty="0">
                <a:solidFill>
                  <a:srgbClr val="475569"/>
                </a:solidFill>
                <a:latin typeface="Calibri"/>
              </a:rPr>
              <a:t xml:space="preserve"> normalisasi huruf untuk cek duplikat — "Basis Data" == "basis data"</a:t>
            </a:r>
          </a:p>
        </p:txBody>
      </p:sp>
      <p:sp>
        <p:nvSpPr>
          <p:cNvPr id="160" name="Card_bg_160"/>
          <p:cNvSpPr/>
          <p:nvPr/>
        </p:nvSpPr>
        <p:spPr>
          <a:xfrm>
            <a:off x="4582000" y="3220000"/>
            <a:ext cx="4090000" cy="1830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9050">
            <a:solidFill>
              <a:srgbClr val="7C3AED"/>
            </a:solidFill>
          </a:ln>
        </p:spPr>
      </p:sp>
      <p:sp>
        <p:nvSpPr>
          <p:cNvPr id="161" name="Card_bar_160"/>
          <p:cNvSpPr/>
          <p:nvPr/>
        </p:nvSpPr>
        <p:spPr>
          <a:xfrm>
            <a:off x="4582000" y="3220000"/>
            <a:ext cx="4090000" cy="8000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 w="0">
            <a:noFill/>
          </a:ln>
        </p:spPr>
      </p:sp>
      <p:sp>
        <p:nvSpPr>
          <p:cNvPr id="162" name="Card_lbl_160"/>
          <p:cNvSpPr/>
          <p:nvPr/>
        </p:nvSpPr>
        <p:spPr>
          <a:xfrm>
            <a:off x="4662000" y="3220000"/>
            <a:ext cx="3930000" cy="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id-ID" sz="1100" b="1" dirty="0">
                <a:solidFill>
                  <a:srgbClr val="FFFFFF"/>
                </a:solidFill>
                <a:latin typeface="Calibri"/>
              </a:rPr>
              <a:t>⚙️  FUNGSI</a:t>
            </a:r>
          </a:p>
        </p:txBody>
      </p:sp>
      <p:sp>
        <p:nvSpPr>
          <p:cNvPr id="163" name="Card_txt_160"/>
          <p:cNvSpPr/>
          <p:nvPr/>
        </p:nvSpPr>
        <p:spPr>
          <a:xfrm>
            <a:off x="4662000" y="3340000"/>
            <a:ext cx="3930000" cy="16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114300" marL="114300">
              <a:buChar char="•"/>
            </a:pPr>
            <a:r>
              <a:rPr lang="id-ID" sz="900" dirty="0">
                <a:solidFill>
                  <a:srgbClr val="1E293B"/>
                </a:solidFill>
                <a:latin typeface="Calibri"/>
              </a:rPr>
              <a:t>Program dibagi menjadi 9 fungsi terpisah (modular) — setiap fungsi memiliki satu tugas spesifik</a:t>
            </a:r>
          </a:p>
          <a:p>
            <a:pPr indent="114300" marL="114300">
              <a:buChar char="•"/>
            </a:pPr>
            <a:r>
              <a:rPr lang="id-ID" sz="900" b="1" dirty="0">
                <a:solidFill>
                  <a:srgbClr val="0D1B3E"/>
                </a:solidFill>
                <a:latin typeface="Consolas"/>
              </a:rPr>
              <a:t>Utilitas:</a:t>
            </a:r>
            <a:r>
              <a:rPr lang="id-ID" sz="900" dirty="0">
                <a:solidFill>
                  <a:srgbClr val="475569"/>
                </a:solidFill>
                <a:latin typeface="Calibri"/>
              </a:rPr>
              <a:t xml:space="preserve"> clear(), garis(), header(), cetak_matkul() → menangani tampilan terminal secara konsisten</a:t>
            </a:r>
          </a:p>
          <a:p>
            <a:pPr indent="114300" marL="114300">
              <a:buChar char="•"/>
            </a:pPr>
            <a:r>
              <a:rPr lang="id-ID" sz="900" b="1" dirty="0">
                <a:solidFill>
                  <a:srgbClr val="0D1B3E"/>
                </a:solidFill>
                <a:latin typeface="Consolas"/>
              </a:rPr>
              <a:t>Fitur:</a:t>
            </a:r>
            <a:r>
              <a:rPr lang="id-ID" sz="900" dirty="0">
                <a:solidFill>
                  <a:srgbClr val="475569"/>
                </a:solidFill>
                <a:latin typeface="Calibri"/>
              </a:rPr>
              <a:t xml:space="preserve"> tampilkan_semua_jadwal(), cari_jadwal_per_hari(), tambah_jadwal(), urutkan_jadwal()</a:t>
            </a:r>
          </a:p>
          <a:p>
            <a:pPr indent="114300" marL="114300">
              <a:buChar char="•"/>
            </a:pPr>
            <a:r>
              <a:rPr lang="id-ID" sz="900" b="1" dirty="0">
                <a:solidFill>
                  <a:srgbClr val="0D1B3E"/>
                </a:solidFill>
                <a:latin typeface="Consolas"/>
              </a:rPr>
              <a:t>Kontrol:</a:t>
            </a:r>
            <a:r>
              <a:rPr lang="id-ID" sz="900" dirty="0">
                <a:solidFill>
                  <a:srgbClr val="475569"/>
                </a:solidFill>
                <a:latin typeface="Calibri"/>
              </a:rPr>
              <a:t xml:space="preserve"> menu_utama() → fungsi pengendali utama dengan while True, memanggil semua fungsi fitur</a:t>
            </a:r>
          </a:p>
          <a:p>
            <a:pPr indent="114300" marL="114300">
              <a:buChar char="•"/>
            </a:pPr>
            <a:r>
              <a:rPr lang="id-ID" sz="900" dirty="0">
                <a:solidFill>
                  <a:srgbClr val="1E293B"/>
                </a:solidFill>
                <a:latin typeface="Calibri"/>
              </a:rPr>
              <a:t>Desain modular membuat kode mudah dibaca, diuji, dan dikembangkan secara independen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64592"/>
            <a:ext cx="2377440" cy="292608"/>
          </a:xfrm>
          <a:prstGeom prst="roundRect">
            <a:avLst>
              <a:gd name="adj" fmla="val 12500"/>
            </a:avLst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FITUR UTAMA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Fitur-Fitur Utama Program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8138160" cy="3657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298448"/>
            <a:ext cx="4224528" cy="18105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298448"/>
            <a:ext cx="4224528" cy="438912"/>
          </a:xfrm>
          <a:prstGeom prst="rect">
            <a:avLst/>
          </a:prstGeom>
          <a:solidFill>
            <a:srgbClr val="1A56A4"/>
          </a:solidFill>
          <a:ln w="12700">
            <a:solidFill>
              <a:srgbClr val="1A56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298448"/>
            <a:ext cx="3968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  📅  Tampilkan Semua Jadwal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1810512"/>
            <a:ext cx="396849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semua mata kuliah dalam format tabel dengan kolom nomor, nama, hari, jam, ruang, dan SKS. Hari yang sama tidak ditampilkan ulang dan total SKS dihitung otomatis.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298448"/>
            <a:ext cx="4224528" cy="18105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298448"/>
            <a:ext cx="4224528" cy="43891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4336" y="1298448"/>
            <a:ext cx="3968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  🔍  Cari Jadwal Per Hari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74336" y="1810512"/>
            <a:ext cx="396849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jadwal berdasarkan hari yang dipilih pengguna. Input divalidasi agar tidak berupa angka atau karakter aneh sebelum proses pencarian dijalankan.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3218688"/>
            <a:ext cx="4224528" cy="18105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3218688"/>
            <a:ext cx="4224528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3218688"/>
            <a:ext cx="3968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  ➕  Tambah Mata Kuliah Baru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" y="3730752"/>
            <a:ext cx="396849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Menambahkan mata kuliah baru dengan lima field input. Setiap field divalidasi secara terpisah mulai dari format jam, range SKS 1 sampai 6, hingga pengecekan duplikat nama.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218688"/>
            <a:ext cx="4224528" cy="18105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218688"/>
            <a:ext cx="4224528" cy="43891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3218688"/>
            <a:ext cx="3968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  📊  Urutkan Jadwal Kuliah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74336" y="3730752"/>
            <a:ext cx="396849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Mengurutkan data jadwal dengan empat opsi yaitu berdasarkan hari, jam, SKS terbesar ke terkecil, atau nama mata kuliah dari A sampai Z menggunakan fungsi sorted() dan lambda.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64592"/>
            <a:ext cx="2377440" cy="292608"/>
          </a:xfrm>
          <a:prstGeom prst="roundRect">
            <a:avLst>
              <a:gd name="adj" fmla="val 12500"/>
            </a:avLst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ALUR PROGRAM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Program (Flowchart)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8138160" cy="3657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00" name="fc_100"/>
          <p:cNvSpPr/>
          <p:nvPr/>
        </p:nvSpPr>
        <p:spPr>
          <a:xfrm>
            <a:off x="1100000" y="1290000"/>
            <a:ext cx="1300000" cy="31000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101" name="arr_101"/>
          <p:cNvSpPr/>
          <p:nvPr/>
        </p:nvSpPr>
        <p:spPr>
          <a:xfrm>
            <a:off x="1750000" y="1600000"/>
            <a:ext cx="0" cy="14000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 w="med" len="med"/>
          </a:ln>
        </p:spPr>
      </p:sp>
      <p:sp>
        <p:nvSpPr>
          <p:cNvPr id="102" name="fc_102"/>
          <p:cNvSpPr/>
          <p:nvPr/>
        </p:nvSpPr>
        <p:spPr>
          <a:xfrm>
            <a:off x="1000000" y="1740000"/>
            <a:ext cx="1500000" cy="340000"/>
          </a:xfrm>
          <a:prstGeom prst="roundRect">
            <a:avLst>
              <a:gd name="adj" fmla="val 5000"/>
            </a:avLst>
          </a:prstGeom>
          <a:solidFill>
            <a:srgbClr val="0D1B3E"/>
          </a:solidFill>
          <a:ln w="0">
            <a:noFill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id-ID" sz="900" b="1" dirty="0">
                <a:solidFill>
                  <a:srgbClr val="FFFFFF"/>
                </a:solidFill>
                <a:latin typeface="Calibri"/>
              </a:rPr>
              <a:t>Inisialisasi</a:t>
            </a:r>
          </a:p>
          <a:p>
            <a:pPr algn="ctr" indent="0" marL="0">
              <a:buNone/>
            </a:pPr>
            <a:r>
              <a:rPr lang="id-ID" sz="900" b="1" dirty="0">
                <a:solidFill>
                  <a:srgbClr val="FFFFFF"/>
                </a:solidFill>
                <a:latin typeface="Calibri"/>
              </a:rPr>
              <a:t>jadwal_kuliah</a:t>
            </a:r>
          </a:p>
        </p:txBody>
      </p:sp>
      <p:sp>
        <p:nvSpPr>
          <p:cNvPr id="103" name="arr_103"/>
          <p:cNvSpPr/>
          <p:nvPr/>
        </p:nvSpPr>
        <p:spPr>
          <a:xfrm>
            <a:off x="1750000" y="2080000"/>
            <a:ext cx="0" cy="11000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 w="med" len="med"/>
          </a:ln>
        </p:spPr>
      </p:sp>
      <p:sp>
        <p:nvSpPr>
          <p:cNvPr id="104" name="fc_104"/>
          <p:cNvSpPr/>
          <p:nvPr/>
        </p:nvSpPr>
        <p:spPr>
          <a:xfrm>
            <a:off x="1000000" y="2190000"/>
            <a:ext cx="1500000" cy="340000"/>
          </a:xfrm>
          <a:prstGeom prst="roundRect">
            <a:avLst>
              <a:gd name="adj" fmla="val 5000"/>
            </a:avLst>
          </a:prstGeom>
          <a:solidFill>
            <a:srgbClr val="0EA5A0"/>
          </a:solidFill>
          <a:ln w="0">
            <a:noFill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id-ID" sz="900" b="1" dirty="0">
                <a:solidFill>
                  <a:srgbClr val="FFFFFF"/>
                </a:solidFill>
                <a:latin typeface="Calibri"/>
              </a:rPr>
              <a:t>Tampilkan</a:t>
            </a:r>
          </a:p>
          <a:p>
            <a:pPr algn="ctr" indent="0" marL="0">
              <a:buNone/>
            </a:pPr>
            <a:r>
              <a:rPr lang="id-ID" sz="900" b="1" dirty="0">
                <a:solidFill>
                  <a:srgbClr val="FFFFFF"/>
                </a:solidFill>
                <a:latin typeface="Calibri"/>
              </a:rPr>
              <a:t>Menu Utama  ↻</a:t>
            </a:r>
          </a:p>
        </p:txBody>
      </p:sp>
      <p:sp>
        <p:nvSpPr>
          <p:cNvPr id="105" name="arr_105"/>
          <p:cNvSpPr/>
          <p:nvPr/>
        </p:nvSpPr>
        <p:spPr>
          <a:xfrm>
            <a:off x="1750000" y="2530000"/>
            <a:ext cx="0" cy="11000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 w="med" len="med"/>
          </a:ln>
        </p:spPr>
      </p:sp>
      <p:sp>
        <p:nvSpPr>
          <p:cNvPr id="106" name="fc_106"/>
          <p:cNvSpPr/>
          <p:nvPr/>
        </p:nvSpPr>
        <p:spPr>
          <a:xfrm>
            <a:off x="1000000" y="2640000"/>
            <a:ext cx="1500000" cy="340000"/>
          </a:xfrm>
          <a:prstGeom prst="roundRect">
            <a:avLst>
              <a:gd name="adj" fmla="val 5000"/>
            </a:avLst>
          </a:prstGeom>
          <a:solidFill>
            <a:srgbClr val="475569"/>
          </a:solidFill>
          <a:ln w="0">
            <a:noFill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id-ID" sz="900" b="1" dirty="0">
                <a:solidFill>
                  <a:srgbClr val="FFFFFF"/>
                </a:solidFill>
                <a:latin typeface="Calibri"/>
              </a:rPr>
              <a:t>Input Pilihan</a:t>
            </a:r>
          </a:p>
          <a:p>
            <a:pPr algn="ctr" indent="0" marL="0">
              <a:buNone/>
            </a:pPr>
            <a:r>
              <a:rPr lang="id-ID" sz="900" b="1" dirty="0">
                <a:solidFill>
                  <a:srgbClr val="FFFFFF"/>
                </a:solidFill>
                <a:latin typeface="Calibri"/>
              </a:rPr>
              <a:t>User (0–4)</a:t>
            </a:r>
          </a:p>
        </p:txBody>
      </p:sp>
      <p:sp>
        <p:nvSpPr>
          <p:cNvPr id="107" name="arr_107"/>
          <p:cNvSpPr/>
          <p:nvPr/>
        </p:nvSpPr>
        <p:spPr>
          <a:xfrm>
            <a:off x="1750000" y="2980000"/>
            <a:ext cx="0" cy="12000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 w="med" len="med"/>
          </a:ln>
        </p:spPr>
      </p:sp>
      <p:sp>
        <p:nvSpPr>
          <p:cNvPr id="108" name="fc_108"/>
          <p:cNvSpPr/>
          <p:nvPr/>
        </p:nvSpPr>
        <p:spPr>
          <a:xfrm>
            <a:off x="850000" y="3100000"/>
            <a:ext cx="1800000" cy="520000"/>
          </a:xfrm>
          <a:prstGeom prst="diamond">
            <a:avLst/>
          </a:prstGeom>
          <a:solidFill>
            <a:srgbClr val="1D4ED8"/>
          </a:solidFill>
          <a:ln w="0">
            <a:noFill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id-ID" sz="900" b="1" dirty="0">
                <a:solidFill>
                  <a:srgbClr val="FFFFFF"/>
                </a:solidFill>
                <a:latin typeface="Calibri"/>
              </a:rPr>
              <a:t>Cek</a:t>
            </a:r>
          </a:p>
          <a:p>
            <a:pPr algn="ctr" indent="0" marL="0">
              <a:buNone/>
            </a:pPr>
            <a:r>
              <a:rPr lang="id-ID" sz="900" b="1" dirty="0">
                <a:solidFill>
                  <a:srgbClr val="FFFFFF"/>
                </a:solidFill>
                <a:latin typeface="Calibri"/>
              </a:rPr>
              <a:t>Pilihan?</a:t>
            </a:r>
          </a:p>
        </p:txBody>
      </p:sp>
      <p:sp>
        <p:nvSpPr>
          <p:cNvPr id="109" name="lbl_109"/>
          <p:cNvSpPr/>
          <p:nvPr/>
        </p:nvSpPr>
        <p:spPr>
          <a:xfrm>
            <a:off x="650000" y="3640000"/>
            <a:ext cx="3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id-ID" sz="900" b="1" i="1" dirty="0">
                <a:solidFill>
                  <a:srgbClr val="EA580C"/>
                </a:solidFill>
                <a:latin typeface="Calibri"/>
              </a:rPr>
              <a:t>0</a:t>
            </a:r>
          </a:p>
        </p:txBody>
      </p:sp>
      <p:sp>
        <p:nvSpPr>
          <p:cNvPr id="110" name="lbl_110"/>
          <p:cNvSpPr/>
          <p:nvPr/>
        </p:nvSpPr>
        <p:spPr>
          <a:xfrm>
            <a:off x="2680000" y="3240000"/>
            <a:ext cx="4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id-ID" sz="900" b="1" i="1" dirty="0">
                <a:solidFill>
                  <a:srgbClr val="0EA5A0"/>
                </a:solidFill>
                <a:latin typeface="Calibri"/>
              </a:rPr>
              <a:t>1-4</a:t>
            </a:r>
          </a:p>
        </p:txBody>
      </p:sp>
      <p:sp>
        <p:nvSpPr>
          <p:cNvPr id="111" name="arr_111"/>
          <p:cNvSpPr/>
          <p:nvPr/>
        </p:nvSpPr>
        <p:spPr>
          <a:xfrm>
            <a:off x="1750000" y="3620000"/>
            <a:ext cx="0" cy="230000"/>
          </a:xfrm>
          <a:prstGeom prst="line">
            <a:avLst/>
          </a:prstGeom>
          <a:noFill/>
          <a:ln w="22860">
            <a:solidFill>
              <a:srgbClr val="EA580C"/>
            </a:solidFill>
            <a:prstDash val="solid"/>
            <a:tailEnd type="triangle" w="med" len="med"/>
          </a:ln>
        </p:spPr>
      </p:sp>
      <p:sp>
        <p:nvSpPr>
          <p:cNvPr id="112" name="fc_112"/>
          <p:cNvSpPr/>
          <p:nvPr/>
        </p:nvSpPr>
        <p:spPr>
          <a:xfrm>
            <a:off x="1000000" y="3850000"/>
            <a:ext cx="1500000" cy="340000"/>
          </a:xfrm>
          <a:prstGeom prst="roundRect">
            <a:avLst>
              <a:gd name="adj" fmla="val 5000"/>
            </a:avLst>
          </a:prstGeom>
          <a:solidFill>
            <a:srgbClr val="EA580C"/>
          </a:solidFill>
          <a:ln w="0">
            <a:noFill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id-ID" sz="900" b="1" dirty="0">
                <a:solidFill>
                  <a:srgbClr val="FFFFFF"/>
                </a:solidFill>
                <a:latin typeface="Calibri"/>
              </a:rPr>
              <a:t>Keluar Program</a:t>
            </a:r>
          </a:p>
        </p:txBody>
      </p:sp>
      <p:sp>
        <p:nvSpPr>
          <p:cNvPr id="113" name="arr_113"/>
          <p:cNvSpPr/>
          <p:nvPr/>
        </p:nvSpPr>
        <p:spPr>
          <a:xfrm>
            <a:off x="1750000" y="4190000"/>
            <a:ext cx="0" cy="150000"/>
          </a:xfrm>
          <a:prstGeom prst="line">
            <a:avLst/>
          </a:prstGeom>
          <a:noFill/>
          <a:ln w="22860">
            <a:solidFill>
              <a:srgbClr val="EA580C"/>
            </a:solidFill>
            <a:prstDash val="solid"/>
            <a:tailEnd type="triangle" w="med" len="med"/>
          </a:ln>
        </p:spPr>
      </p:sp>
      <p:sp>
        <p:nvSpPr>
          <p:cNvPr id="114" name="fc_114"/>
          <p:cNvSpPr/>
          <p:nvPr/>
        </p:nvSpPr>
        <p:spPr>
          <a:xfrm>
            <a:off x="1100000" y="4340000"/>
            <a:ext cx="1300000" cy="310000"/>
          </a:xfrm>
          <a:prstGeom prst="ellipse">
            <a:avLst/>
          </a:prstGeom>
          <a:solidFill>
            <a:srgbClr val="DC2626"/>
          </a:solidFill>
          <a:ln w="0">
            <a:noFill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END</a:t>
            </a:r>
          </a:p>
        </p:txBody>
      </p:sp>
      <p:sp>
        <p:nvSpPr>
          <p:cNvPr id="115" name="arr_115"/>
          <p:cNvSpPr/>
          <p:nvPr/>
        </p:nvSpPr>
        <p:spPr>
          <a:xfrm>
            <a:off x="2650000" y="3360000"/>
            <a:ext cx="630000" cy="0"/>
          </a:xfrm>
          <a:prstGeom prst="line">
            <a:avLst/>
          </a:prstGeom>
          <a:noFill/>
          <a:ln w="22860">
            <a:solidFill>
              <a:srgbClr val="0EA5A0"/>
            </a:solidFill>
            <a:prstDash val="solid"/>
            <a:tailEnd type="triangle" w="med" len="med"/>
          </a:ln>
        </p:spPr>
      </p:sp>
      <p:sp>
        <p:nvSpPr>
          <p:cNvPr id="116" name="bus"/>
          <p:cNvSpPr/>
          <p:nvPr/>
        </p:nvSpPr>
        <p:spPr>
          <a:xfrm>
            <a:off x="3280000" y="2355000"/>
            <a:ext cx="0" cy="1260000"/>
          </a:xfrm>
          <a:prstGeom prst="line">
            <a:avLst/>
          </a:prstGeom>
          <a:noFill/>
          <a:ln w="22860">
            <a:solidFill>
              <a:srgbClr val="0EA5A0"/>
            </a:solidFill>
            <a:prstDash val="solid"/>
          </a:ln>
        </p:spPr>
      </p:sp>
      <p:sp>
        <p:nvSpPr>
          <p:cNvPr id="117" name="arr_117"/>
          <p:cNvSpPr/>
          <p:nvPr/>
        </p:nvSpPr>
        <p:spPr>
          <a:xfrm>
            <a:off x="3280000" y="2355000"/>
            <a:ext cx="220000" cy="0"/>
          </a:xfrm>
          <a:prstGeom prst="line">
            <a:avLst/>
          </a:prstGeom>
          <a:noFill/>
          <a:ln w="22860">
            <a:solidFill>
              <a:srgbClr val="0EA5A0"/>
            </a:solidFill>
            <a:prstDash val="solid"/>
            <a:tailEnd type="triangle" w="med" len="med"/>
          </a:ln>
        </p:spPr>
      </p:sp>
      <p:sp>
        <p:nvSpPr>
          <p:cNvPr id="118" name="arr_118"/>
          <p:cNvSpPr/>
          <p:nvPr/>
        </p:nvSpPr>
        <p:spPr>
          <a:xfrm>
            <a:off x="3280000" y="2775000"/>
            <a:ext cx="220000" cy="0"/>
          </a:xfrm>
          <a:prstGeom prst="line">
            <a:avLst/>
          </a:prstGeom>
          <a:noFill/>
          <a:ln w="22860">
            <a:solidFill>
              <a:srgbClr val="0EA5A0"/>
            </a:solidFill>
            <a:prstDash val="solid"/>
            <a:tailEnd type="triangle" w="med" len="med"/>
          </a:ln>
        </p:spPr>
      </p:sp>
      <p:sp>
        <p:nvSpPr>
          <p:cNvPr id="119" name="arr_119"/>
          <p:cNvSpPr/>
          <p:nvPr/>
        </p:nvSpPr>
        <p:spPr>
          <a:xfrm>
            <a:off x="3280000" y="3195000"/>
            <a:ext cx="220000" cy="0"/>
          </a:xfrm>
          <a:prstGeom prst="line">
            <a:avLst/>
          </a:prstGeom>
          <a:noFill/>
          <a:ln w="22860">
            <a:solidFill>
              <a:srgbClr val="0EA5A0"/>
            </a:solidFill>
            <a:prstDash val="solid"/>
            <a:tailEnd type="triangle" w="med" len="med"/>
          </a:ln>
        </p:spPr>
      </p:sp>
      <p:sp>
        <p:nvSpPr>
          <p:cNvPr id="120" name="arr_120"/>
          <p:cNvSpPr/>
          <p:nvPr/>
        </p:nvSpPr>
        <p:spPr>
          <a:xfrm>
            <a:off x="3280000" y="3615000"/>
            <a:ext cx="220000" cy="0"/>
          </a:xfrm>
          <a:prstGeom prst="line">
            <a:avLst/>
          </a:prstGeom>
          <a:noFill/>
          <a:ln w="22860">
            <a:solidFill>
              <a:srgbClr val="0EA5A0"/>
            </a:solidFill>
            <a:prstDash val="solid"/>
            <a:tailEnd type="triangle" w="med" len="med"/>
          </a:ln>
        </p:spPr>
      </p:sp>
      <p:sp>
        <p:nvSpPr>
          <p:cNvPr id="121" name="fc_121"/>
          <p:cNvSpPr/>
          <p:nvPr/>
        </p:nvSpPr>
        <p:spPr>
          <a:xfrm>
            <a:off x="3500000" y="2190000"/>
            <a:ext cx="2700000" cy="330000"/>
          </a:xfrm>
          <a:prstGeom prst="roundRect">
            <a:avLst>
              <a:gd name="adj" fmla="val 5000"/>
            </a:avLst>
          </a:prstGeom>
          <a:solidFill>
            <a:srgbClr val="0EA5A0"/>
          </a:solidFill>
          <a:ln w="0">
            <a:noFill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id-ID" sz="900" b="1" dirty="0">
                <a:solidFill>
                  <a:srgbClr val="FFFFFF"/>
                </a:solidFill>
                <a:latin typeface="Calibri"/>
              </a:rPr>
              <a:t>1 – Tampilkan</a:t>
            </a:r>
          </a:p>
          <a:p>
            <a:pPr algn="ctr" indent="0" marL="0">
              <a:buNone/>
            </a:pPr>
            <a:r>
              <a:rPr lang="id-ID" sz="900" b="1" dirty="0">
                <a:solidFill>
                  <a:srgbClr val="FFFFFF"/>
                </a:solidFill>
                <a:latin typeface="Calibri"/>
              </a:rPr>
              <a:t>Semua Jadwal</a:t>
            </a:r>
          </a:p>
        </p:txBody>
      </p:sp>
      <p:sp>
        <p:nvSpPr>
          <p:cNvPr id="122" name="arr_122"/>
          <p:cNvSpPr/>
          <p:nvPr/>
        </p:nvSpPr>
        <p:spPr>
          <a:xfrm>
            <a:off x="6200000" y="2355000"/>
            <a:ext cx="180000" cy="0"/>
          </a:xfrm>
          <a:prstGeom prst="line">
            <a:avLst/>
          </a:prstGeom>
          <a:noFill/>
          <a:ln w="22860">
            <a:solidFill>
              <a:srgbClr val="0EA5A0"/>
            </a:solidFill>
            <a:prstDash val="solid"/>
            <a:tailEnd type="triangle" w="med" len="med"/>
          </a:ln>
        </p:spPr>
      </p:sp>
      <p:sp>
        <p:nvSpPr>
          <p:cNvPr id="123" name="fc_123"/>
          <p:cNvSpPr/>
          <p:nvPr/>
        </p:nvSpPr>
        <p:spPr>
          <a:xfrm>
            <a:off x="6380000" y="2190000"/>
            <a:ext cx="900000" cy="330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0">
            <a:noFill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id-ID" sz="800" b="1" dirty="0">
                <a:solidFill>
                  <a:srgbClr val="FFFFFF"/>
                </a:solidFill>
                <a:latin typeface="Calibri"/>
              </a:rPr>
              <a:t>Output</a:t>
            </a:r>
          </a:p>
          <a:p>
            <a:pPr algn="ctr" indent="0" marL="0">
              <a:buNone/>
            </a:pPr>
            <a:r>
              <a:rPr lang="id-ID" sz="800" b="1" dirty="0">
                <a:solidFill>
                  <a:srgbClr val="FFFFFF"/>
                </a:solidFill>
                <a:latin typeface="Calibri"/>
              </a:rPr>
              <a:t>(Hasil)</a:t>
            </a:r>
          </a:p>
        </p:txBody>
      </p:sp>
      <p:sp>
        <p:nvSpPr>
          <p:cNvPr id="124" name="fc_124"/>
          <p:cNvSpPr/>
          <p:nvPr/>
        </p:nvSpPr>
        <p:spPr>
          <a:xfrm>
            <a:off x="3500000" y="2610000"/>
            <a:ext cx="2700000" cy="330000"/>
          </a:xfrm>
          <a:prstGeom prst="roundRect">
            <a:avLst>
              <a:gd name="adj" fmla="val 5000"/>
            </a:avLst>
          </a:prstGeom>
          <a:solidFill>
            <a:srgbClr val="0284C7"/>
          </a:solidFill>
          <a:ln w="0">
            <a:noFill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id-ID" sz="900" b="1" dirty="0">
                <a:solidFill>
                  <a:srgbClr val="FFFFFF"/>
                </a:solidFill>
                <a:latin typeface="Calibri"/>
              </a:rPr>
              <a:t>2 – Cari Jadwal</a:t>
            </a:r>
          </a:p>
          <a:p>
            <a:pPr algn="ctr" indent="0" marL="0">
              <a:buNone/>
            </a:pPr>
            <a:r>
              <a:rPr lang="id-ID" sz="900" b="1" dirty="0">
                <a:solidFill>
                  <a:srgbClr val="FFFFFF"/>
                </a:solidFill>
                <a:latin typeface="Calibri"/>
              </a:rPr>
              <a:t>Per Hari</a:t>
            </a:r>
          </a:p>
        </p:txBody>
      </p:sp>
      <p:sp>
        <p:nvSpPr>
          <p:cNvPr id="125" name="arr_125"/>
          <p:cNvSpPr/>
          <p:nvPr/>
        </p:nvSpPr>
        <p:spPr>
          <a:xfrm>
            <a:off x="6200000" y="2775000"/>
            <a:ext cx="180000" cy="0"/>
          </a:xfrm>
          <a:prstGeom prst="line">
            <a:avLst/>
          </a:prstGeom>
          <a:noFill/>
          <a:ln w="22860">
            <a:solidFill>
              <a:srgbClr val="0284C7"/>
            </a:solidFill>
            <a:prstDash val="solid"/>
            <a:tailEnd type="triangle" w="med" len="med"/>
          </a:ln>
        </p:spPr>
      </p:sp>
      <p:sp>
        <p:nvSpPr>
          <p:cNvPr id="126" name="fc_126"/>
          <p:cNvSpPr/>
          <p:nvPr/>
        </p:nvSpPr>
        <p:spPr>
          <a:xfrm>
            <a:off x="6380000" y="2610000"/>
            <a:ext cx="900000" cy="330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0">
            <a:noFill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id-ID" sz="800" b="1" dirty="0">
                <a:solidFill>
                  <a:srgbClr val="FFFFFF"/>
                </a:solidFill>
                <a:latin typeface="Calibri"/>
              </a:rPr>
              <a:t>Output</a:t>
            </a:r>
          </a:p>
          <a:p>
            <a:pPr algn="ctr" indent="0" marL="0">
              <a:buNone/>
            </a:pPr>
            <a:r>
              <a:rPr lang="id-ID" sz="800" b="1" dirty="0">
                <a:solidFill>
                  <a:srgbClr val="FFFFFF"/>
                </a:solidFill>
                <a:latin typeface="Calibri"/>
              </a:rPr>
              <a:t>(Hasil)</a:t>
            </a:r>
          </a:p>
        </p:txBody>
      </p:sp>
      <p:sp>
        <p:nvSpPr>
          <p:cNvPr id="127" name="fc_127"/>
          <p:cNvSpPr/>
          <p:nvPr/>
        </p:nvSpPr>
        <p:spPr>
          <a:xfrm>
            <a:off x="3500000" y="3030000"/>
            <a:ext cx="2700000" cy="33000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 w="0">
            <a:noFill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id-ID" sz="900" b="1" dirty="0">
                <a:solidFill>
                  <a:srgbClr val="FFFFFF"/>
                </a:solidFill>
                <a:latin typeface="Calibri"/>
              </a:rPr>
              <a:t>3 – Tambah</a:t>
            </a:r>
          </a:p>
          <a:p>
            <a:pPr algn="ctr" indent="0" marL="0">
              <a:buNone/>
            </a:pPr>
            <a:r>
              <a:rPr lang="id-ID" sz="900" b="1" dirty="0">
                <a:solidFill>
                  <a:srgbClr val="FFFFFF"/>
                </a:solidFill>
                <a:latin typeface="Calibri"/>
              </a:rPr>
              <a:t>Mata Kuliah Baru</a:t>
            </a:r>
          </a:p>
        </p:txBody>
      </p:sp>
      <p:sp>
        <p:nvSpPr>
          <p:cNvPr id="128" name="arr_128"/>
          <p:cNvSpPr/>
          <p:nvPr/>
        </p:nvSpPr>
        <p:spPr>
          <a:xfrm>
            <a:off x="6200000" y="3195000"/>
            <a:ext cx="180000" cy="0"/>
          </a:xfrm>
          <a:prstGeom prst="line">
            <a:avLst/>
          </a:prstGeom>
          <a:noFill/>
          <a:ln w="22860">
            <a:solidFill>
              <a:srgbClr val="7C3AED"/>
            </a:solidFill>
            <a:prstDash val="solid"/>
            <a:tailEnd type="triangle" w="med" len="med"/>
          </a:ln>
        </p:spPr>
      </p:sp>
      <p:sp>
        <p:nvSpPr>
          <p:cNvPr id="129" name="fc_129"/>
          <p:cNvSpPr/>
          <p:nvPr/>
        </p:nvSpPr>
        <p:spPr>
          <a:xfrm>
            <a:off x="6380000" y="3030000"/>
            <a:ext cx="900000" cy="330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0">
            <a:noFill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id-ID" sz="800" b="1" dirty="0">
                <a:solidFill>
                  <a:srgbClr val="FFFFFF"/>
                </a:solidFill>
                <a:latin typeface="Calibri"/>
              </a:rPr>
              <a:t>Output</a:t>
            </a:r>
          </a:p>
          <a:p>
            <a:pPr algn="ctr" indent="0" marL="0">
              <a:buNone/>
            </a:pPr>
            <a:r>
              <a:rPr lang="id-ID" sz="800" b="1" dirty="0">
                <a:solidFill>
                  <a:srgbClr val="FFFFFF"/>
                </a:solidFill>
                <a:latin typeface="Calibri"/>
              </a:rPr>
              <a:t>(Hasil)</a:t>
            </a:r>
          </a:p>
        </p:txBody>
      </p:sp>
      <p:sp>
        <p:nvSpPr>
          <p:cNvPr id="130" name="fc_130"/>
          <p:cNvSpPr/>
          <p:nvPr/>
        </p:nvSpPr>
        <p:spPr>
          <a:xfrm>
            <a:off x="3500000" y="3450000"/>
            <a:ext cx="2700000" cy="330000"/>
          </a:xfrm>
          <a:prstGeom prst="roundRect">
            <a:avLst>
              <a:gd name="adj" fmla="val 5000"/>
            </a:avLst>
          </a:prstGeom>
          <a:solidFill>
            <a:srgbClr val="EA580C"/>
          </a:solidFill>
          <a:ln w="0">
            <a:noFill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id-ID" sz="900" b="1" dirty="0">
                <a:solidFill>
                  <a:srgbClr val="FFFFFF"/>
                </a:solidFill>
                <a:latin typeface="Calibri"/>
              </a:rPr>
              <a:t>4 – Urutkan</a:t>
            </a:r>
          </a:p>
          <a:p>
            <a:pPr algn="ctr" indent="0" marL="0">
              <a:buNone/>
            </a:pPr>
            <a:r>
              <a:rPr lang="id-ID" sz="900" b="1" dirty="0">
                <a:solidFill>
                  <a:srgbClr val="FFFFFF"/>
                </a:solidFill>
                <a:latin typeface="Calibri"/>
              </a:rPr>
              <a:t>Jadwal Kuliah</a:t>
            </a:r>
          </a:p>
        </p:txBody>
      </p:sp>
      <p:sp>
        <p:nvSpPr>
          <p:cNvPr id="131" name="arr_131"/>
          <p:cNvSpPr/>
          <p:nvPr/>
        </p:nvSpPr>
        <p:spPr>
          <a:xfrm>
            <a:off x="6200000" y="3615000"/>
            <a:ext cx="180000" cy="0"/>
          </a:xfrm>
          <a:prstGeom prst="line">
            <a:avLst/>
          </a:prstGeom>
          <a:noFill/>
          <a:ln w="22860">
            <a:solidFill>
              <a:srgbClr val="EA580C"/>
            </a:solidFill>
            <a:prstDash val="solid"/>
            <a:tailEnd type="triangle" w="med" len="med"/>
          </a:ln>
        </p:spPr>
      </p:sp>
      <p:sp>
        <p:nvSpPr>
          <p:cNvPr id="132" name="fc_132"/>
          <p:cNvSpPr/>
          <p:nvPr/>
        </p:nvSpPr>
        <p:spPr>
          <a:xfrm>
            <a:off x="6380000" y="3450000"/>
            <a:ext cx="900000" cy="330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0">
            <a:noFill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id-ID" sz="800" b="1" dirty="0">
                <a:solidFill>
                  <a:srgbClr val="FFFFFF"/>
                </a:solidFill>
                <a:latin typeface="Calibri"/>
              </a:rPr>
              <a:t>Output</a:t>
            </a:r>
          </a:p>
          <a:p>
            <a:pPr algn="ctr" indent="0" marL="0">
              <a:buNone/>
            </a:pPr>
            <a:r>
              <a:rPr lang="id-ID" sz="800" b="1" dirty="0">
                <a:solidFill>
                  <a:srgbClr val="FFFFFF"/>
                </a:solidFill>
                <a:latin typeface="Calibri"/>
              </a:rPr>
              <a:t>(Hasil)</a:t>
            </a:r>
          </a:p>
        </p:txBody>
      </p:sp>
      <p:sp>
        <p:nvSpPr>
          <p:cNvPr id="133" name="loop_v"/>
          <p:cNvSpPr/>
          <p:nvPr/>
        </p:nvSpPr>
        <p:spPr>
          <a:xfrm>
            <a:off x="7400000" y="2360000"/>
            <a:ext cx="0" cy="1420000"/>
          </a:xfrm>
          <a:prstGeom prst="line">
            <a:avLst/>
          </a:prstGeom>
          <a:noFill/>
          <a:ln w="22860">
            <a:solidFill>
              <a:srgbClr val="94A3B8"/>
            </a:solidFill>
            <a:prstDash val="dash"/>
          </a:ln>
        </p:spPr>
      </p:sp>
      <p:sp>
        <p:nvSpPr>
          <p:cNvPr id="134" name="loop_h"/>
          <p:cNvSpPr/>
          <p:nvPr/>
        </p:nvSpPr>
        <p:spPr>
          <a:xfrm>
            <a:off x="2500000" y="2360000"/>
            <a:ext cx="4900000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dash"/>
            <a:tailEnd type="triangle" w="med" len="med"/>
          </a:ln>
        </p:spPr>
      </p:sp>
      <p:sp>
        <p:nvSpPr>
          <p:cNvPr id="135" name="lbl_135"/>
          <p:cNvSpPr/>
          <p:nvPr/>
        </p:nvSpPr>
        <p:spPr>
          <a:xfrm>
            <a:off x="7250000" y="2887500"/>
            <a:ext cx="8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id-ID" sz="750" b="0" i="1" dirty="0">
                <a:solidFill>
                  <a:srgbClr val="94A3B8"/>
                </a:solidFill>
                <a:latin typeface="Calibri"/>
              </a:rPr>
              <a:t>kembali ke menu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64592"/>
            <a:ext cx="2377440" cy="292608"/>
          </a:xfrm>
          <a:prstGeom prst="roundRect">
            <a:avLst>
              <a:gd name="adj" fmla="val 12500"/>
            </a:avLst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EVALUASI PROGRAM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Kelebihan dan Kekurangan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8138160" cy="3657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98448"/>
            <a:ext cx="393192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984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KELEBIHAN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719072"/>
            <a:ext cx="45720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1907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Modular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197510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fitur ditulis dalam fungsi terpisah sehingga mudah dibaca, diuji, dan dikembangkan.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542032"/>
            <a:ext cx="45720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420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Input Lengkap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279806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pengguna divalidasi secara ketat mencakup format jam, range SKS, karakter tidak valid, dan nama duplikat.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364992"/>
            <a:ext cx="45720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3649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Dependensi Eksternal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362102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menggunakan modul os bawaan Python sehingga bisa langsung dijalankan tanpa instalasi apapun.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4187952"/>
            <a:ext cx="45720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1879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Fleksibel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444398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Tersedia empat opsi pengurutan data menggunakan sorted() dengan lambda expression yang efisien.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1298448"/>
            <a:ext cx="39319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2984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KEKURANGAN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1719072"/>
            <a:ext cx="4572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171907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Tidak Tersimpan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56048" y="197510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data hilang ketika program ditutup karena belum ada penyimpanan ke file atau database.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542032"/>
            <a:ext cx="4572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25420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Fitur Edit atau Hapus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56048" y="279806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tidak bisa mengubah atau menghapus mata kuliah yang sudah ditambahkan ke dalam daftar.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364992"/>
            <a:ext cx="4572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33649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 Hanya Terminal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56048" y="362102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CLI kurang ramah pengguna dibandingkan aplikasi dengan antarmuka grafis atau berbasis web.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4187952"/>
            <a:ext cx="4572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41879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Awal Hard-coded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56048" y="444398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contoh ditulis langsung di dalam kode program, bukan dibaca dari file konfigurasi atau database eksternal.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64592"/>
            <a:ext cx="2377440" cy="292608"/>
          </a:xfrm>
          <a:prstGeom prst="roundRect">
            <a:avLst>
              <a:gd name="adj" fmla="val 12500"/>
            </a:avLst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PENGEMBANGAN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 Sistem ke Depan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8138160" cy="3657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298448"/>
            <a:ext cx="4224528" cy="17190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298448"/>
            <a:ext cx="4224528" cy="402336"/>
          </a:xfrm>
          <a:prstGeom prst="rect">
            <a:avLst/>
          </a:prstGeom>
          <a:solidFill>
            <a:srgbClr val="1A56A4"/>
          </a:solidFill>
          <a:ln w="12700">
            <a:solidFill>
              <a:srgbClr val="1A56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298448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Fase 1  💾  Persistensi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1773936"/>
            <a:ext cx="396849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Menambahkan kemampuan menyimpan dan membaca data secara permanen agar jadwal tidak hilang ketika program ditutup.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298448"/>
            <a:ext cx="4224528" cy="17190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298448"/>
            <a:ext cx="4224528" cy="40233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298448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Fase 2  ✏️  Fitur CRUD Lengkap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74336" y="1773936"/>
            <a:ext cx="396849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Melengkapi operasi data dengan fitur hapus dan edit mata kuliah, serta pengecekan konflik jadwal jika hari dan jam bersamaan.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3127248"/>
            <a:ext cx="4224528" cy="17190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3127248"/>
            <a:ext cx="4224528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127248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Fase 3  🗄️  Database dan Multi-User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" y="3602736"/>
            <a:ext cx="396849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Mengembangkan sistem penyimpanan data yang lebih andal dan menambahkan fitur autentikasi agar program dapat digunakan oleh banyak pengguna sekaligus.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127248"/>
            <a:ext cx="4224528" cy="17190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127248"/>
            <a:ext cx="4224528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3127248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Fase 4  🖥️  Antarmuka Grafis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74336" y="3602736"/>
            <a:ext cx="396849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Mengembangkan antarmuka visual yang lebih ramah pengguna sehingga program tidak lagi berbasis teks dan dapat diakses lebih mudah oleh pengguna umum.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371600"/>
            <a:ext cx="4572000" cy="4572000"/>
          </a:xfrm>
          <a:prstGeom prst="ellipse">
            <a:avLst/>
          </a:prstGeom>
          <a:solidFill>
            <a:srgbClr val="1A56A4">
              <a:alpha val="22000"/>
            </a:srgbClr>
          </a:solidFill>
          <a:ln w="12700">
            <a:solidFill>
              <a:srgbClr val="1A56A4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743200"/>
            <a:ext cx="3657600" cy="3657600"/>
          </a:xfrm>
          <a:prstGeom prst="ellipse">
            <a:avLst/>
          </a:prstGeom>
          <a:solidFill>
            <a:srgbClr val="0EA5A0">
              <a:alpha val="18000"/>
            </a:srgbClr>
          </a:solidFill>
          <a:ln w="12700">
            <a:solidFill>
              <a:srgbClr val="0EA5A0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"/>
            <a:ext cx="2377440" cy="292608"/>
          </a:xfrm>
          <a:prstGeom prst="roundRect">
            <a:avLst>
              <a:gd name="adj" fmla="val 12500"/>
            </a:avLst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4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KESIMPULAN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3035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207008"/>
            <a:ext cx="8138160" cy="36576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353312"/>
            <a:ext cx="347472" cy="34747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9264" y="131673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Implementasi Berhasil 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1316736"/>
            <a:ext cx="5897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berhasil membangun sistem manajemen jadwal kuliah berbasis CLI Python tanpa dependensi library eksternal.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048256"/>
            <a:ext cx="347472" cy="34747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48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9264" y="20116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Struktur Data Efektif  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2011680"/>
            <a:ext cx="5897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Dictionary terbukti cocok untuk menyimpan dan memanipulasi data jadwal dengan lima atribut per mata kuliah.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743200"/>
            <a:ext cx="347472" cy="34747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43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9264" y="270662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Desain Modular  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2706624"/>
            <a:ext cx="5897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fitur utama masing-masing diimplementasikan dalam fungsi terpisah sehingga kode bersih dan mudah dikembangkan.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438144"/>
            <a:ext cx="347472" cy="34747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9264" y="340156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Validasi Input Solid  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3401568"/>
            <a:ext cx="5897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Penggunaan while True, isdigit, isalpha, dan try/except memastikan data yang masuk selalu valid dan bersih.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133088"/>
            <a:ext cx="347472" cy="34747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69264" y="409651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Potensi Pengembangan Luas  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0" y="4096512"/>
            <a:ext cx="5897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ini dapat dikembangkan menjadi aplikasi web lengkap dengan database, autentikasi, dan antarmuka grafis ke depannya.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791456"/>
            <a:ext cx="9144000" cy="352044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791456"/>
            <a:ext cx="91440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Sistem Manajemen Mata Kuliah  —  Python  |  List of Dictionary  |  Validasi Input  |  Sorting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Manajemen Mata Kuliah</dc:title>
  <dc:subject>PptxGenJS Presentation</dc:subject>
  <dc:creator>PptxGenJS</dc:creator>
  <cp:lastModifiedBy>PptxGenJS</cp:lastModifiedBy>
  <cp:revision>1</cp:revision>
  <dcterms:created xsi:type="dcterms:W3CDTF">2026-05-12T09:30:40Z</dcterms:created>
  <dcterms:modified xsi:type="dcterms:W3CDTF">2026-05-12T09:30:40Z</dcterms:modified>
</cp:coreProperties>
</file>