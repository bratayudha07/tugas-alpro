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18288000" cy="10287000"/>
  <p:embeddedFontLst>
    <p:embeddedFont>
      <p:font typeface="Tahoma"/>
      <p:regular r:id="rId16"/>
      <p:bold r:id="rId17"/>
    </p:embeddedFon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ytDBeNpLqq0kLVbfPqWDYzEoE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Tahoma-bold.fntdata"/><Relationship Id="rId16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 txBox="1"/>
          <p:nvPr>
            <p:ph type="title"/>
          </p:nvPr>
        </p:nvSpPr>
        <p:spPr>
          <a:xfrm>
            <a:off x="1016000" y="573513"/>
            <a:ext cx="12350115" cy="15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00866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" type="body"/>
          </p:nvPr>
        </p:nvSpPr>
        <p:spPr>
          <a:xfrm>
            <a:off x="1016000" y="4856194"/>
            <a:ext cx="11442065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0" name="Google Shape;2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142" y="-1143"/>
            <a:ext cx="4346062" cy="2891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06307" y="490415"/>
            <a:ext cx="1076324" cy="10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4"/>
          <p:cNvSpPr txBox="1"/>
          <p:nvPr>
            <p:ph type="title"/>
          </p:nvPr>
        </p:nvSpPr>
        <p:spPr>
          <a:xfrm>
            <a:off x="1016000" y="573513"/>
            <a:ext cx="12350115" cy="15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00866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00866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1016000" y="573513"/>
            <a:ext cx="12350115" cy="15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00866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12"/>
          <p:cNvSpPr txBox="1"/>
          <p:nvPr>
            <p:ph type="title"/>
          </p:nvPr>
        </p:nvSpPr>
        <p:spPr>
          <a:xfrm>
            <a:off x="1016000" y="573513"/>
            <a:ext cx="12350115" cy="15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rgbClr val="00866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2"/>
          <p:cNvSpPr txBox="1"/>
          <p:nvPr>
            <p:ph idx="1" type="body"/>
          </p:nvPr>
        </p:nvSpPr>
        <p:spPr>
          <a:xfrm>
            <a:off x="1016000" y="4856194"/>
            <a:ext cx="11442065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22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32.jpg"/><Relationship Id="rId5" Type="http://schemas.openxmlformats.org/officeDocument/2006/relationships/image" Target="../media/image23.jpg"/><Relationship Id="rId6" Type="http://schemas.openxmlformats.org/officeDocument/2006/relationships/image" Target="../media/image26.jpg"/><Relationship Id="rId7" Type="http://schemas.openxmlformats.org/officeDocument/2006/relationships/image" Target="../media/image28.jp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33.jpg"/><Relationship Id="rId5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94325"/>
            <a:ext cx="5790575" cy="317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20650" y="7309713"/>
            <a:ext cx="5402257" cy="2981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142" y="-1142"/>
            <a:ext cx="6558241" cy="339898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/>
          <p:nvPr>
            <p:ph type="title"/>
          </p:nvPr>
        </p:nvSpPr>
        <p:spPr>
          <a:xfrm>
            <a:off x="7145486" y="4541869"/>
            <a:ext cx="3997325" cy="1183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0">
                <a:latin typeface="Tahoma"/>
                <a:ea typeface="Tahoma"/>
                <a:cs typeface="Tahoma"/>
                <a:sym typeface="Tahoma"/>
              </a:rPr>
              <a:t>Variables</a:t>
            </a:r>
            <a:endParaRPr sz="76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1" name="Google Shape;5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19305" y="2871503"/>
            <a:ext cx="6568694" cy="329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1"/>
          <p:cNvGrpSpPr/>
          <p:nvPr/>
        </p:nvGrpSpPr>
        <p:grpSpPr>
          <a:xfrm>
            <a:off x="6524347" y="5917671"/>
            <a:ext cx="616791" cy="693838"/>
            <a:chOff x="6524347" y="5917671"/>
            <a:chExt cx="616791" cy="693838"/>
          </a:xfrm>
        </p:grpSpPr>
        <p:sp>
          <p:nvSpPr>
            <p:cNvPr id="53" name="Google Shape;53;p1"/>
            <p:cNvSpPr/>
            <p:nvPr/>
          </p:nvSpPr>
          <p:spPr>
            <a:xfrm>
              <a:off x="6524347" y="5917671"/>
              <a:ext cx="616585" cy="308610"/>
            </a:xfrm>
            <a:custGeom>
              <a:rect b="b" l="l" r="r" t="t"/>
              <a:pathLst>
                <a:path extrusionOk="0" h="308610" w="616584">
                  <a:moveTo>
                    <a:pt x="308180" y="308180"/>
                  </a:moveTo>
                  <a:lnTo>
                    <a:pt x="0" y="154090"/>
                  </a:lnTo>
                  <a:lnTo>
                    <a:pt x="308180" y="0"/>
                  </a:lnTo>
                  <a:lnTo>
                    <a:pt x="616361" y="154090"/>
                  </a:lnTo>
                  <a:lnTo>
                    <a:pt x="308180" y="308180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6832528" y="6071759"/>
              <a:ext cx="308610" cy="539750"/>
            </a:xfrm>
            <a:custGeom>
              <a:rect b="b" l="l" r="r" t="t"/>
              <a:pathLst>
                <a:path extrusionOk="0" h="539750" w="308609">
                  <a:moveTo>
                    <a:pt x="0" y="539316"/>
                  </a:moveTo>
                  <a:lnTo>
                    <a:pt x="0" y="154090"/>
                  </a:lnTo>
                  <a:lnTo>
                    <a:pt x="308180" y="0"/>
                  </a:lnTo>
                  <a:lnTo>
                    <a:pt x="308180" y="385225"/>
                  </a:lnTo>
                  <a:lnTo>
                    <a:pt x="0" y="539316"/>
                  </a:lnTo>
                  <a:close/>
                </a:path>
              </a:pathLst>
            </a:custGeom>
            <a:solidFill>
              <a:srgbClr val="61C3B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6524347" y="6071759"/>
              <a:ext cx="308610" cy="539750"/>
            </a:xfrm>
            <a:custGeom>
              <a:rect b="b" l="l" r="r" t="t"/>
              <a:pathLst>
                <a:path extrusionOk="0" h="539750" w="308609">
                  <a:moveTo>
                    <a:pt x="308180" y="539316"/>
                  </a:moveTo>
                  <a:lnTo>
                    <a:pt x="0" y="385225"/>
                  </a:lnTo>
                  <a:lnTo>
                    <a:pt x="0" y="0"/>
                  </a:lnTo>
                  <a:lnTo>
                    <a:pt x="308180" y="154090"/>
                  </a:lnTo>
                  <a:lnTo>
                    <a:pt x="308180" y="539316"/>
                  </a:lnTo>
                  <a:close/>
                </a:path>
              </a:pathLst>
            </a:custGeom>
            <a:solidFill>
              <a:srgbClr val="00866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6524347" y="5917868"/>
              <a:ext cx="616585" cy="693420"/>
            </a:xfrm>
            <a:custGeom>
              <a:rect b="b" l="l" r="r" t="t"/>
              <a:pathLst>
                <a:path extrusionOk="0" h="693420" w="616584">
                  <a:moveTo>
                    <a:pt x="308180" y="0"/>
                  </a:moveTo>
                  <a:lnTo>
                    <a:pt x="0" y="154090"/>
                  </a:lnTo>
                  <a:lnTo>
                    <a:pt x="0" y="539316"/>
                  </a:lnTo>
                  <a:lnTo>
                    <a:pt x="308180" y="693406"/>
                  </a:lnTo>
                  <a:lnTo>
                    <a:pt x="616361" y="539316"/>
                  </a:lnTo>
                  <a:lnTo>
                    <a:pt x="616361" y="154090"/>
                  </a:lnTo>
                  <a:lnTo>
                    <a:pt x="308180" y="0"/>
                  </a:lnTo>
                  <a:close/>
                </a:path>
              </a:pathLst>
            </a:custGeom>
            <a:noFill/>
            <a:ln cap="flat" cmpd="sng" w="15400">
              <a:solidFill>
                <a:srgbClr val="4D4D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7" name="Google Shape;57;p1"/>
          <p:cNvSpPr txBox="1"/>
          <p:nvPr/>
        </p:nvSpPr>
        <p:spPr>
          <a:xfrm>
            <a:off x="7512912" y="5977873"/>
            <a:ext cx="572452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65B6D"/>
                </a:solidFill>
                <a:latin typeface="Tahoma"/>
                <a:ea typeface="Tahoma"/>
                <a:cs typeface="Tahoma"/>
                <a:sym typeface="Tahoma"/>
              </a:rPr>
              <a:t>Algoritma dan Pemrograman II</a:t>
            </a:r>
            <a:endParaRPr sz="3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8" name="Google Shape;58;p1"/>
          <p:cNvGrpSpPr/>
          <p:nvPr/>
        </p:nvGrpSpPr>
        <p:grpSpPr>
          <a:xfrm>
            <a:off x="272014" y="98696"/>
            <a:ext cx="7121335" cy="2732003"/>
            <a:chOff x="272014" y="98696"/>
            <a:chExt cx="7121335" cy="2732003"/>
          </a:xfrm>
        </p:grpSpPr>
        <p:pic>
          <p:nvPicPr>
            <p:cNvPr id="59" name="Google Shape;59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72014" y="98696"/>
              <a:ext cx="7121335" cy="27320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60;p1"/>
            <p:cNvSpPr/>
            <p:nvPr/>
          </p:nvSpPr>
          <p:spPr>
            <a:xfrm>
              <a:off x="3098842" y="2236132"/>
              <a:ext cx="387638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 cap="none">
                  <a:solidFill>
                    <a:srgbClr val="D6E3BC"/>
                  </a:solidFill>
                  <a:latin typeface="Tahoma"/>
                  <a:ea typeface="Tahoma"/>
                  <a:cs typeface="Tahoma"/>
                  <a:sym typeface="Tahoma"/>
                </a:rPr>
                <a:t>Jurusan Informatika</a:t>
              </a:r>
              <a:endParaRPr b="1" sz="2800" cap="none">
                <a:solidFill>
                  <a:srgbClr val="D6E3BC"/>
                </a:solidFill>
              </a:endParaRPr>
            </a:p>
          </p:txBody>
        </p:sp>
      </p:grpSp>
      <p:sp>
        <p:nvSpPr>
          <p:cNvPr id="61" name="Google Shape;61;p1"/>
          <p:cNvSpPr txBox="1"/>
          <p:nvPr/>
        </p:nvSpPr>
        <p:spPr>
          <a:xfrm>
            <a:off x="6290154" y="8420100"/>
            <a:ext cx="5402257" cy="1608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65B6D"/>
                </a:solidFill>
                <a:latin typeface="Tahoma"/>
                <a:ea typeface="Tahoma"/>
                <a:cs typeface="Tahoma"/>
                <a:sym typeface="Tahoma"/>
              </a:rPr>
              <a:t>Team Teaching: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65B6D"/>
                </a:solidFill>
                <a:latin typeface="Tahoma"/>
                <a:ea typeface="Tahoma"/>
                <a:cs typeface="Tahoma"/>
                <a:sym typeface="Tahoma"/>
              </a:rPr>
              <a:t>Lia Farhatuaini, M.Kom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65B6D"/>
                </a:solidFill>
                <a:latin typeface="Tahoma"/>
                <a:ea typeface="Tahoma"/>
                <a:cs typeface="Tahoma"/>
                <a:sym typeface="Tahoma"/>
              </a:rPr>
              <a:t>Sokid, M.Kom</a:t>
            </a:r>
            <a:endParaRPr sz="3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2" y="-1142"/>
            <a:ext cx="4346062" cy="2891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9570" y="3405703"/>
            <a:ext cx="6657974" cy="53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 txBox="1"/>
          <p:nvPr>
            <p:ph type="title"/>
          </p:nvPr>
        </p:nvSpPr>
        <p:spPr>
          <a:xfrm>
            <a:off x="1016000" y="573513"/>
            <a:ext cx="17272000" cy="93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D6E3BC"/>
                </a:solidFill>
              </a:rPr>
              <a:t>VARIABLES-DATA-SHAPED BOXES</a:t>
            </a:r>
            <a:endParaRPr b="1" sz="6000">
              <a:solidFill>
                <a:srgbClr val="D6E3BC"/>
              </a:solidFill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1016000" y="2717158"/>
            <a:ext cx="8621400" cy="6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Pada pertemuan sebelumnya kita telah belajar mengkodekan literal yang memiliki nilai </a:t>
            </a: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numbers 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atau </a:t>
            </a: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text 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dan baganimana mengoperasikannya dengan berbagai operator pada python, tetap bagaimana menyimpan hasil operasi tersebut? python memiliki </a:t>
            </a: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box 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spesial yang bernama </a:t>
            </a: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variables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.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60"/>
              </a:spcBef>
              <a:spcAft>
                <a:spcPts val="0"/>
              </a:spcAft>
              <a:buNone/>
            </a:pPr>
            <a:r>
              <a:t/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Setiap variabel pada python memiliki: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nama 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dan </a:t>
            </a: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nilai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.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3" y="-1142"/>
            <a:ext cx="4346063" cy="289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" y="3318909"/>
            <a:ext cx="9972674" cy="450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95852" y="5242446"/>
            <a:ext cx="3095624" cy="258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700" y="8172738"/>
            <a:ext cx="4991099" cy="124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2190" y="8282514"/>
            <a:ext cx="10906125" cy="113347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 txBox="1"/>
          <p:nvPr/>
        </p:nvSpPr>
        <p:spPr>
          <a:xfrm>
            <a:off x="1016000" y="2422318"/>
            <a:ext cx="60591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nama_variabel = nilai_variabel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 txBox="1"/>
          <p:nvPr>
            <p:ph type="title"/>
          </p:nvPr>
        </p:nvSpPr>
        <p:spPr>
          <a:xfrm>
            <a:off x="1016000" y="573513"/>
            <a:ext cx="18414900" cy="11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D6E3BC"/>
                </a:solidFill>
              </a:rPr>
              <a:t>HOW TO CREATE &amp; USE VARIABLE?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2" y="-1142"/>
            <a:ext cx="4346063" cy="2891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" y="3402429"/>
            <a:ext cx="5534024" cy="2638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81828" y="4597403"/>
            <a:ext cx="2162174" cy="143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757" y="6668808"/>
            <a:ext cx="8153399" cy="230504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 txBox="1"/>
          <p:nvPr>
            <p:ph type="title"/>
          </p:nvPr>
        </p:nvSpPr>
        <p:spPr>
          <a:xfrm>
            <a:off x="1016000" y="573513"/>
            <a:ext cx="123501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0">
                <a:solidFill>
                  <a:srgbClr val="D6E3BC"/>
                </a:solidFill>
              </a:rPr>
              <a:t>ASSIGN NEW VALUE TO EXISTING VARIABLE</a:t>
            </a:r>
            <a:endParaRPr b="1" sz="7600">
              <a:solidFill>
                <a:srgbClr val="D6E3BC"/>
              </a:solidFill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10113104" y="7053607"/>
            <a:ext cx="4770900" cy="12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Apa output dari kode di samping?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2" y="-1142"/>
            <a:ext cx="4346063" cy="2891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174" y="3247788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174" y="4447938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174" y="5048013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174" y="5648088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174" y="7448312"/>
            <a:ext cx="152400" cy="152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1016000" y="2340367"/>
            <a:ext cx="16567200" cy="72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Beberapa aturan pada python untuk penamaan variabel: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746125" marR="1208405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Nama dari variabel harus terdiri daru huruf besar, huruf kecil, angka dan karakter underscore (_); tidak boleh mengandung spasi;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746125" marR="6362065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Nama variabel harus diawali dengan huruf; Karakter uderscore (_) merupakan suatu huruf;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746125" marR="2286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Huruf besar dan huruf kecil diperlakukan berbeda (contoh: variabel dengan nama </a:t>
            </a: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Pemrograman 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dengan </a:t>
            </a: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PEMROGRAMAN	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merupakan dua variabel yang berbeda.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746125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Nama dari variabel tidak boleh sama dengan kata kunci pada python ['False', 'None', 'True', 'and', 'as', 'assert', 'break', 'class', 'continue', 'def', 'del', 'elif', 'else',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746125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'except', 'finally', 'for', 'from', 'global', 'if', 'import', 'in', 'is', 'lambda', 'nonlocal',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746125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'not', 'or', 'pass', 'raise', 'return', 'try', 'while', 'with', 'yield'].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>
            <p:ph type="title"/>
          </p:nvPr>
        </p:nvSpPr>
        <p:spPr>
          <a:xfrm>
            <a:off x="1016000" y="573513"/>
            <a:ext cx="12350100" cy="13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D6E3BC"/>
                </a:solidFill>
              </a:rPr>
              <a:t>VARIABLE NAMES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650" y="5181225"/>
            <a:ext cx="4838699" cy="2505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5134" y="5143500"/>
            <a:ext cx="4114799" cy="2505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 txBox="1"/>
          <p:nvPr/>
        </p:nvSpPr>
        <p:spPr>
          <a:xfrm>
            <a:off x="1016000" y="2340366"/>
            <a:ext cx="63741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Jika kita perlu menghitung serangkaian nilai berturut-turut maka kita akan menuliskannya seperti ini: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 txBox="1"/>
          <p:nvPr>
            <p:ph type="title"/>
          </p:nvPr>
        </p:nvSpPr>
        <p:spPr>
          <a:xfrm>
            <a:off x="1016000" y="573513"/>
            <a:ext cx="123501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D6E3BC"/>
                </a:solidFill>
              </a:rPr>
              <a:t>SHORTCUT OPERATORS</a:t>
            </a:r>
            <a:endParaRPr/>
          </a:p>
        </p:txBody>
      </p:sp>
      <p:sp>
        <p:nvSpPr>
          <p:cNvPr id="111" name="Google Shape;111;p6"/>
          <p:cNvSpPr txBox="1"/>
          <p:nvPr/>
        </p:nvSpPr>
        <p:spPr>
          <a:xfrm>
            <a:off x="9192428" y="2952836"/>
            <a:ext cx="8119800" cy="12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dengan python, kita bisa menuliskannya dengan lebih ringkas: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2" y="-1142"/>
            <a:ext cx="4346063" cy="2891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4401" y="3594136"/>
            <a:ext cx="3381374" cy="857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67900" y="3428891"/>
            <a:ext cx="3829049" cy="1019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9609" y="4726224"/>
            <a:ext cx="2666999" cy="83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4936" y="4806434"/>
            <a:ext cx="4657724" cy="6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8700" y="6760289"/>
            <a:ext cx="7934324" cy="259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 txBox="1"/>
          <p:nvPr/>
        </p:nvSpPr>
        <p:spPr>
          <a:xfrm>
            <a:off x="1016000" y="2877915"/>
            <a:ext cx="155466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Problem: Kuadrat dari hipotenusa sama dengan jumlah dari kuadrat dari dua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1016000" y="3477990"/>
            <a:ext cx="23292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sisi lainnya.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 txBox="1"/>
          <p:nvPr>
            <p:ph type="title"/>
          </p:nvPr>
        </p:nvSpPr>
        <p:spPr>
          <a:xfrm>
            <a:off x="1016000" y="601144"/>
            <a:ext cx="17729100" cy="2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3350">
            <a:spAutoFit/>
          </a:bodyPr>
          <a:lstStyle/>
          <a:p>
            <a:pPr indent="0" lvl="0" marL="12700" marR="5080" rtl="0" algn="l">
              <a:lnSpc>
                <a:spcPct val="7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900">
                <a:solidFill>
                  <a:srgbClr val="D6E3BC"/>
                </a:solidFill>
              </a:rPr>
              <a:t>SOLVING SIMPLE MATHEMATICAL PROBLEM</a:t>
            </a:r>
            <a:endParaRPr b="1" sz="7900">
              <a:solidFill>
                <a:srgbClr val="D6E3BC"/>
              </a:solidFill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8094968" y="3734848"/>
            <a:ext cx="9234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atau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891175" y="4278444"/>
            <a:ext cx="11442000" cy="3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dengan	sama dengan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Jika ditulis dengan kode python menjadi: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Apa outputnya?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2" y="-1142"/>
            <a:ext cx="4346063" cy="2891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174" y="2647713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174" y="3247788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174" y="4447938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174" y="5648088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174" y="6848237"/>
            <a:ext cx="152400" cy="152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 txBox="1"/>
          <p:nvPr/>
        </p:nvSpPr>
        <p:spPr>
          <a:xfrm>
            <a:off x="1750020" y="2418694"/>
            <a:ext cx="14640000" cy="53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Buatlah variabel </a:t>
            </a: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Ayu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Bagus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Citra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.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Berikan nilai untuk merepresentasikan jumlah uang yang dimiliki kepada setiap variabel.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87503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Setelah variabel memiliki nilai, print setiap variabel dalam satu baris, dipisahkan dengan koma.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99695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Buat variabel baru bernama </a:t>
            </a: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jumlahTabungan 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yang bernilai jumlah dari ketiga variabel sebelumnya.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767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print nilai </a:t>
            </a: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jumlahTabungan 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dengan menambahkan kalimat “</a:t>
            </a: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Jumlah Tabungan adalah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”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 txBox="1"/>
          <p:nvPr>
            <p:ph type="title"/>
          </p:nvPr>
        </p:nvSpPr>
        <p:spPr>
          <a:xfrm>
            <a:off x="1016000" y="573513"/>
            <a:ext cx="123501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D6E3BC"/>
                </a:solidFill>
              </a:rPr>
              <a:t>KUIS 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3" y="-1142"/>
            <a:ext cx="4346063" cy="289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4475" y="5663293"/>
            <a:ext cx="16230599" cy="410527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9"/>
          <p:cNvSpPr txBox="1"/>
          <p:nvPr/>
        </p:nvSpPr>
        <p:spPr>
          <a:xfrm>
            <a:off x="1016000" y="2340365"/>
            <a:ext cx="163125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Mil dan Kilometer merupakan satuan untuk jarak. 1 Mil = 1.61 Kilometer.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Buatlah kode python untuk mengkonversi jarak dari kilometer ke Mil dan dari Mil ke Kilometer. gunakan fungsi </a:t>
            </a: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round( ) 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untuk membulatkan 2 digit di belakang koma.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 txBox="1"/>
          <p:nvPr>
            <p:ph type="title"/>
          </p:nvPr>
        </p:nvSpPr>
        <p:spPr>
          <a:xfrm>
            <a:off x="1016000" y="573513"/>
            <a:ext cx="123501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D6E3BC"/>
                </a:solidFill>
              </a:rPr>
              <a:t>KUIS 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2" y="-1142"/>
            <a:ext cx="4346063" cy="2891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" y="5119134"/>
            <a:ext cx="13820774" cy="238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0802" y="3009661"/>
            <a:ext cx="3905249" cy="89534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0"/>
          <p:cNvSpPr txBox="1"/>
          <p:nvPr/>
        </p:nvSpPr>
        <p:spPr>
          <a:xfrm>
            <a:off x="1107750" y="2490165"/>
            <a:ext cx="16072500" cy="23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kode python untuk menyelesaikan persamaan matematika di bawah ini y =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60"/>
              </a:spcBef>
              <a:spcAft>
                <a:spcPts val="0"/>
              </a:spcAft>
              <a:buNone/>
            </a:pPr>
            <a:r>
              <a:t/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cobalah nilai x dengan nilai 0, 1, dan -1</a:t>
            </a:r>
            <a:r>
              <a:rPr lang="en-US" sz="3400"/>
              <a:t>Buatlah 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, kemudian print masing-masing hasilnya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 txBox="1"/>
          <p:nvPr>
            <p:ph type="title"/>
          </p:nvPr>
        </p:nvSpPr>
        <p:spPr>
          <a:xfrm>
            <a:off x="1016000" y="573513"/>
            <a:ext cx="123501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D6E3BC"/>
                </a:solidFill>
              </a:rPr>
              <a:t>KUIS 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2026-02-03T05:12:13Z</dcterms:created>
  <dc:creator>Lia Farhatuaini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2024-02-28T00:00:00Z</vt:filetime>
  </property>
  <property fmtid="{D5CDD505-2E9C-101B-9397-08002B2CF9AE}" pid="3" name="Creator">
    <vt:lpwstr>Canva</vt:lpwstr>
  </property>
  <property fmtid="{D5CDD505-2E9C-101B-9397-08002B2CF9AE}" pid="4" name="LastSaved">
    <vt:filetime>2026-02-03T00:00:00Z</vt:filetime>
  </property>
  <property fmtid="{D5CDD505-2E9C-101B-9397-08002B2CF9AE}" pid="5" name="Producer">
    <vt:lpwstr>Canva</vt:lpwstr>
  </property>
</Properties>
</file>